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19"/>
  </p:notesMasterIdLst>
  <p:sldIdLst>
    <p:sldId id="256" r:id="rId2"/>
    <p:sldId id="257" r:id="rId3"/>
    <p:sldId id="258" r:id="rId4"/>
    <p:sldId id="259" r:id="rId5"/>
    <p:sldId id="260" r:id="rId6"/>
    <p:sldId id="261" r:id="rId7"/>
    <p:sldId id="262" r:id="rId8"/>
    <p:sldId id="270" r:id="rId9"/>
    <p:sldId id="263" r:id="rId10"/>
    <p:sldId id="264" r:id="rId11"/>
    <p:sldId id="273" r:id="rId12"/>
    <p:sldId id="271" r:id="rId13"/>
    <p:sldId id="265" r:id="rId14"/>
    <p:sldId id="272" r:id="rId15"/>
    <p:sldId id="266" r:id="rId16"/>
    <p:sldId id="267" r:id="rId17"/>
    <p:sldId id="269" r:id="rId18"/>
  </p:sldIdLst>
  <p:sldSz cx="12192000" cy="6858000"/>
  <p:notesSz cx="6858000" cy="9144000"/>
  <p:embeddedFontLst>
    <p:embeddedFont>
      <p:font typeface="Lato" panose="020F0502020204030203" pitchFamily="34" charset="0"/>
      <p:regular r:id="rId20"/>
      <p:bold r:id="rId21"/>
      <p:italic r:id="rId22"/>
      <p:boldItalic r:id="rId23"/>
    </p:embeddedFont>
    <p:embeddedFont>
      <p:font typeface="Raleway"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462FDC7-1D18-4686-845C-F99325A23272}">
  <a:tblStyle styleId="{1462FDC7-1D18-4686-845C-F99325A2327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297" autoAdjust="0"/>
  </p:normalViewPr>
  <p:slideViewPr>
    <p:cSldViewPr snapToGrid="0">
      <p:cViewPr varScale="1">
        <p:scale>
          <a:sx n="74" d="100"/>
          <a:sy n="74" d="100"/>
        </p:scale>
        <p:origin x="989" y="43"/>
      </p:cViewPr>
      <p:guideLst/>
    </p:cSldViewPr>
  </p:slideViewPr>
  <p:notesTextViewPr>
    <p:cViewPr>
      <p:scale>
        <a:sx n="1" d="1"/>
        <a:sy n="1" d="1"/>
      </p:scale>
      <p:origin x="0" y="-9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This project started as a team project on traffic sign recognition using the GTSRB dataset.</a:t>
            </a:r>
          </a:p>
          <a:p>
            <a:r>
              <a:rPr lang="en-US" dirty="0"/>
              <a:t>The original work focused on a </a:t>
            </a:r>
            <a:r>
              <a:rPr lang="en-US" b="1" dirty="0"/>
              <a:t>baseline model</a:t>
            </a:r>
            <a:r>
              <a:rPr lang="en-US" dirty="0"/>
              <a:t> and two </a:t>
            </a:r>
            <a:r>
              <a:rPr lang="en-US" b="1" dirty="0"/>
              <a:t>custom CNNs</a:t>
            </a:r>
            <a:r>
              <a:rPr lang="en-US" dirty="0"/>
              <a:t>, mainly to study regularization and overfitting.</a:t>
            </a:r>
          </a:p>
          <a:p>
            <a:r>
              <a:rPr lang="en-US" dirty="0"/>
              <a:t>My contribution is an </a:t>
            </a:r>
            <a:r>
              <a:rPr lang="en-US" b="1" dirty="0"/>
              <a:t>extension</a:t>
            </a:r>
            <a:r>
              <a:rPr lang="en-US" dirty="0"/>
              <a:t> of that work: I add a </a:t>
            </a:r>
            <a:r>
              <a:rPr lang="en-US" b="1" dirty="0"/>
              <a:t>ResNet-18 transfer-learning model</a:t>
            </a:r>
            <a:r>
              <a:rPr lang="en-US" dirty="0"/>
              <a:t> and introduce </a:t>
            </a:r>
            <a:r>
              <a:rPr lang="en-US" b="1" dirty="0"/>
              <a:t>explainability tools</a:t>
            </a:r>
            <a:r>
              <a:rPr lang="en-US" dirty="0"/>
              <a:t>, like Grad-CAM and a misclassification viewer.</a:t>
            </a:r>
          </a:p>
          <a:p>
            <a:r>
              <a:rPr lang="en-US" dirty="0"/>
              <a:t>In this talk I’ll briefly recap what was done before, and then focus mainly on the </a:t>
            </a:r>
            <a:r>
              <a:rPr lang="en-US" b="1" dirty="0"/>
              <a:t>ResNet-18 extension and the insights from it</a:t>
            </a:r>
            <a:r>
              <a:rPr lang="en-US" dirty="0"/>
              <a:t>.</a:t>
            </a:r>
          </a:p>
        </p:txBody>
      </p:sp>
      <p:sp>
        <p:nvSpPr>
          <p:cNvPr id="104" name="Google Shape;10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The core problem is: given a </a:t>
            </a:r>
            <a:r>
              <a:rPr lang="en-US" b="1" dirty="0"/>
              <a:t>traffic sign image</a:t>
            </a:r>
            <a:r>
              <a:rPr lang="en-US" dirty="0"/>
              <a:t> from GTSRB, we want to classify it into one of </a:t>
            </a:r>
            <a:r>
              <a:rPr lang="en-US" b="1" dirty="0"/>
              <a:t>43 classes</a:t>
            </a:r>
            <a:r>
              <a:rPr lang="en-US" dirty="0"/>
              <a:t> reliably.</a:t>
            </a:r>
          </a:p>
          <a:p>
            <a:r>
              <a:rPr lang="en-US" dirty="0"/>
              <a:t>The original project showed that a </a:t>
            </a:r>
            <a:r>
              <a:rPr lang="en-US" b="1" dirty="0"/>
              <a:t>regularized CNN</a:t>
            </a:r>
            <a:r>
              <a:rPr lang="en-US" dirty="0"/>
              <a:t> already performs well, around </a:t>
            </a:r>
            <a:r>
              <a:rPr lang="en-US" b="1" dirty="0"/>
              <a:t>97% accuracy</a:t>
            </a:r>
            <a:r>
              <a:rPr lang="en-US" dirty="0"/>
              <a:t>, compared to a weaker linear baseline.</a:t>
            </a:r>
          </a:p>
          <a:p>
            <a:r>
              <a:rPr lang="en-US" dirty="0"/>
              <a:t>My extension asks: </a:t>
            </a:r>
            <a:r>
              <a:rPr lang="en-US" i="1" dirty="0"/>
              <a:t>what happens if we go beyond small CNNs and use a </a:t>
            </a:r>
            <a:r>
              <a:rPr lang="en-US" b="1" i="1" dirty="0"/>
              <a:t>deeper, pretrained model</a:t>
            </a:r>
            <a:r>
              <a:rPr lang="en-US" i="1" dirty="0"/>
              <a:t> like ResNet-18, and then look inside it using explainability tools?</a:t>
            </a:r>
            <a:endParaRPr lang="en-US" dirty="0"/>
          </a:p>
          <a:p>
            <a:r>
              <a:rPr lang="en-US" dirty="0"/>
              <a:t>So the goal of my part is both </a:t>
            </a:r>
            <a:r>
              <a:rPr lang="en-US" b="1" dirty="0"/>
              <a:t>better performance</a:t>
            </a:r>
            <a:r>
              <a:rPr lang="en-US" dirty="0"/>
              <a:t> and </a:t>
            </a:r>
            <a:r>
              <a:rPr lang="en-US" b="1" dirty="0"/>
              <a:t>better understanding</a:t>
            </a:r>
            <a:r>
              <a:rPr lang="en-US" dirty="0"/>
              <a:t> of how the model makes its decisions.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7" name="Google Shape;11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Originally, the project used:</a:t>
            </a:r>
          </a:p>
          <a:p>
            <a:r>
              <a:rPr lang="en-US" dirty="0"/>
              <a:t>A </a:t>
            </a:r>
            <a:r>
              <a:rPr lang="en-US" b="1" dirty="0"/>
              <a:t>baseline</a:t>
            </a:r>
            <a:r>
              <a:rPr lang="en-US" dirty="0"/>
              <a:t> where images were resized to 64×64, converted to </a:t>
            </a:r>
            <a:r>
              <a:rPr lang="en-US" b="1" dirty="0"/>
              <a:t>grayscale</a:t>
            </a:r>
            <a:r>
              <a:rPr lang="en-US" dirty="0"/>
              <a:t>, flattened, reduced with </a:t>
            </a:r>
            <a:r>
              <a:rPr lang="en-US" b="1" dirty="0"/>
              <a:t>PCA</a:t>
            </a:r>
            <a:r>
              <a:rPr lang="en-US" dirty="0"/>
              <a:t>, and fed to a </a:t>
            </a:r>
            <a:r>
              <a:rPr lang="en-US" b="1" dirty="0"/>
              <a:t>Ridge regression</a:t>
            </a:r>
            <a:r>
              <a:rPr lang="en-US" dirty="0"/>
              <a:t>.</a:t>
            </a:r>
          </a:p>
          <a:p>
            <a:r>
              <a:rPr lang="en-US" dirty="0"/>
              <a:t>Two </a:t>
            </a:r>
            <a:r>
              <a:rPr lang="en-US" b="1" dirty="0"/>
              <a:t>custom CNNs</a:t>
            </a:r>
            <a:r>
              <a:rPr lang="en-US" dirty="0"/>
              <a:t> that took </a:t>
            </a:r>
            <a:r>
              <a:rPr lang="en-US" b="1" dirty="0"/>
              <a:t>64×64 RGB</a:t>
            </a:r>
            <a:r>
              <a:rPr lang="en-US" dirty="0"/>
              <a:t> images: a </a:t>
            </a:r>
            <a:r>
              <a:rPr lang="en-US" b="1" dirty="0"/>
              <a:t>plain CNN</a:t>
            </a:r>
            <a:r>
              <a:rPr lang="en-US" dirty="0"/>
              <a:t> and a </a:t>
            </a:r>
            <a:r>
              <a:rPr lang="en-US" b="1" dirty="0"/>
              <a:t>regularized CNN</a:t>
            </a:r>
            <a:r>
              <a:rPr lang="en-US" dirty="0"/>
              <a:t> with </a:t>
            </a:r>
            <a:r>
              <a:rPr lang="en-US" dirty="0" err="1"/>
              <a:t>BatchNorm</a:t>
            </a:r>
            <a:r>
              <a:rPr lang="en-US" dirty="0"/>
              <a:t>, Dropout, and weight decay.</a:t>
            </a:r>
          </a:p>
          <a:p>
            <a:r>
              <a:rPr lang="en-US" dirty="0"/>
              <a:t>All of these models output a </a:t>
            </a:r>
            <a:r>
              <a:rPr lang="en-US" b="1" dirty="0"/>
              <a:t>probability over 43 classes</a:t>
            </a:r>
            <a:r>
              <a:rPr lang="en-US" dirty="0"/>
              <a:t>, and the </a:t>
            </a:r>
            <a:r>
              <a:rPr lang="en-US" b="1" dirty="0"/>
              <a:t>argmax</a:t>
            </a:r>
            <a:r>
              <a:rPr lang="en-US" dirty="0"/>
              <a:t> is taken as the predicted traffic sign.</a:t>
            </a:r>
          </a:p>
          <a:p>
            <a:r>
              <a:rPr lang="en-US" dirty="0"/>
              <a:t>This slide is mainly to set the stage; my extension keeps the same input–output idea but changes the backbone to </a:t>
            </a:r>
            <a:r>
              <a:rPr lang="en-US" b="1" dirty="0"/>
              <a:t>ResNet-18</a:t>
            </a:r>
            <a:r>
              <a:rPr lang="en-US" dirty="0"/>
              <a:t>.</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27" name="Google Shape;12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For </a:t>
            </a:r>
            <a:r>
              <a:rPr lang="en-US" b="1" dirty="0"/>
              <a:t>ResNet-18</a:t>
            </a:r>
            <a:r>
              <a:rPr lang="en-US" dirty="0"/>
              <a:t>, the input is a </a:t>
            </a:r>
            <a:r>
              <a:rPr lang="en-US" b="1" dirty="0"/>
              <a:t>224×224 RGB image</a:t>
            </a:r>
            <a:r>
              <a:rPr lang="en-US" dirty="0"/>
              <a:t> from GTSRB.</a:t>
            </a:r>
          </a:p>
          <a:p>
            <a:r>
              <a:rPr lang="en-US" dirty="0"/>
              <a:t>Before feeding it into the model, I:</a:t>
            </a:r>
          </a:p>
          <a:p>
            <a:r>
              <a:rPr lang="en-US" dirty="0"/>
              <a:t>Resize the image to </a:t>
            </a:r>
            <a:r>
              <a:rPr lang="en-US" b="1" dirty="0"/>
              <a:t>224×224</a:t>
            </a:r>
            <a:r>
              <a:rPr lang="en-US" dirty="0"/>
              <a:t>,</a:t>
            </a:r>
          </a:p>
          <a:p>
            <a:r>
              <a:rPr lang="en-US" dirty="0"/>
              <a:t>Convert it to a tensor, and</a:t>
            </a:r>
          </a:p>
          <a:p>
            <a:r>
              <a:rPr lang="en-US" dirty="0"/>
              <a:t>Apply </a:t>
            </a:r>
            <a:r>
              <a:rPr lang="en-US" b="1" dirty="0"/>
              <a:t>ImageNet-style normalization</a:t>
            </a:r>
            <a:r>
              <a:rPr lang="en-US" dirty="0"/>
              <a:t> (same mean and std that </a:t>
            </a:r>
            <a:r>
              <a:rPr lang="en-US" dirty="0" err="1"/>
              <a:t>ResNet</a:t>
            </a:r>
            <a:r>
              <a:rPr lang="en-US" dirty="0"/>
              <a:t> expects).</a:t>
            </a:r>
          </a:p>
          <a:p>
            <a:r>
              <a:rPr lang="en-US" dirty="0"/>
              <a:t>The model outputs </a:t>
            </a:r>
            <a:r>
              <a:rPr lang="en-US" b="1" dirty="0"/>
              <a:t>43 logits</a:t>
            </a:r>
            <a:r>
              <a:rPr lang="en-US" dirty="0"/>
              <a:t>, one for each traffic sign class.</a:t>
            </a:r>
          </a:p>
          <a:p>
            <a:r>
              <a:rPr lang="en-US" dirty="0"/>
              <a:t>I apply a </a:t>
            </a:r>
            <a:r>
              <a:rPr lang="en-US" dirty="0" err="1"/>
              <a:t>softmax</a:t>
            </a:r>
            <a:r>
              <a:rPr lang="en-US" dirty="0"/>
              <a:t> (implicitly) and take the </a:t>
            </a:r>
            <a:r>
              <a:rPr lang="en-US" b="1" dirty="0"/>
              <a:t>argmax</a:t>
            </a:r>
            <a:r>
              <a:rPr lang="en-US" dirty="0"/>
              <a:t> to get a single predicted class index from </a:t>
            </a:r>
            <a:r>
              <a:rPr lang="en-US" b="1" dirty="0"/>
              <a:t>0 to 42</a:t>
            </a:r>
            <a:r>
              <a:rPr lang="en-US" dirty="0"/>
              <a:t>, just like the previous models.</a:t>
            </a:r>
          </a:p>
          <a:p>
            <a:r>
              <a:rPr lang="en-US" dirty="0"/>
              <a:t>So the </a:t>
            </a:r>
            <a:r>
              <a:rPr lang="en-US" b="1" dirty="0"/>
              <a:t>output space</a:t>
            </a:r>
            <a:r>
              <a:rPr lang="en-US" dirty="0"/>
              <a:t> is identical; only the </a:t>
            </a:r>
            <a:r>
              <a:rPr lang="en-US" b="1" dirty="0"/>
              <a:t>feature extractor</a:t>
            </a:r>
            <a:r>
              <a:rPr lang="en-US" dirty="0"/>
              <a:t> has changed to ResNet-18.</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36" name="Google Shape;13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All models, including my extension, use the </a:t>
            </a:r>
            <a:r>
              <a:rPr lang="en-US" b="1" dirty="0"/>
              <a:t>GTSRB dataset</a:t>
            </a:r>
            <a:r>
              <a:rPr lang="en-US" dirty="0"/>
              <a:t>:</a:t>
            </a:r>
          </a:p>
          <a:p>
            <a:r>
              <a:rPr lang="en-US" dirty="0"/>
              <a:t>Around 39k training images, 12.6k test images, 43 classes.</a:t>
            </a:r>
          </a:p>
          <a:p>
            <a:r>
              <a:rPr lang="en-US" dirty="0"/>
              <a:t>We keep the same split as the original project:</a:t>
            </a:r>
          </a:p>
          <a:p>
            <a:r>
              <a:rPr lang="en-US" b="1" dirty="0"/>
              <a:t>85% of the training data</a:t>
            </a:r>
            <a:r>
              <a:rPr lang="en-US" dirty="0"/>
              <a:t> for training, </a:t>
            </a:r>
            <a:r>
              <a:rPr lang="en-US" b="1" dirty="0"/>
              <a:t>15% for validation</a:t>
            </a:r>
            <a:r>
              <a:rPr lang="en-US" dirty="0"/>
              <a:t>, and a fixed official </a:t>
            </a:r>
            <a:r>
              <a:rPr lang="en-US" b="1" dirty="0"/>
              <a:t>test set</a:t>
            </a:r>
            <a:r>
              <a:rPr lang="en-US" dirty="0"/>
              <a:t>.</a:t>
            </a:r>
          </a:p>
          <a:p>
            <a:r>
              <a:rPr lang="en-US" dirty="0"/>
              <a:t>For </a:t>
            </a:r>
            <a:r>
              <a:rPr lang="en-US" b="1" dirty="0"/>
              <a:t>ResNet-18</a:t>
            </a:r>
            <a:r>
              <a:rPr lang="en-US" dirty="0"/>
              <a:t>, my setup is:</a:t>
            </a:r>
          </a:p>
          <a:p>
            <a:r>
              <a:rPr lang="en-US" dirty="0"/>
              <a:t>Input: </a:t>
            </a:r>
            <a:r>
              <a:rPr lang="en-US" b="1" dirty="0"/>
              <a:t>224×224 RGB</a:t>
            </a:r>
            <a:r>
              <a:rPr lang="en-US" dirty="0"/>
              <a:t> with ImageNet normalization.</a:t>
            </a:r>
          </a:p>
          <a:p>
            <a:r>
              <a:rPr lang="en-US" b="1" dirty="0"/>
              <a:t>Light data augmentation</a:t>
            </a:r>
            <a:r>
              <a:rPr lang="en-US" dirty="0"/>
              <a:t> during training: small random rotations and mild </a:t>
            </a:r>
            <a:r>
              <a:rPr lang="en-US" dirty="0" err="1"/>
              <a:t>colour</a:t>
            </a:r>
            <a:r>
              <a:rPr lang="en-US" dirty="0"/>
              <a:t> jitter, to improve robustness.</a:t>
            </a:r>
          </a:p>
          <a:p>
            <a:r>
              <a:rPr lang="en-US" dirty="0"/>
              <a:t>Optimizer: </a:t>
            </a:r>
            <a:r>
              <a:rPr lang="en-US" b="1" dirty="0"/>
              <a:t>Adam</a:t>
            </a:r>
            <a:r>
              <a:rPr lang="en-US" dirty="0"/>
              <a:t>, learning rate </a:t>
            </a:r>
            <a:r>
              <a:rPr lang="en-US" b="1" dirty="0"/>
              <a:t>1e-4</a:t>
            </a:r>
            <a:r>
              <a:rPr lang="en-US" dirty="0"/>
              <a:t>, weight decay </a:t>
            </a:r>
            <a:r>
              <a:rPr lang="en-US" b="1" dirty="0"/>
              <a:t>1e-4</a:t>
            </a:r>
            <a:r>
              <a:rPr lang="en-US" dirty="0"/>
              <a:t>, batch size </a:t>
            </a:r>
            <a:r>
              <a:rPr lang="en-US" b="1" dirty="0"/>
              <a:t>128</a:t>
            </a:r>
            <a:r>
              <a:rPr lang="en-US" dirty="0"/>
              <a:t>.</a:t>
            </a:r>
          </a:p>
          <a:p>
            <a:r>
              <a:rPr lang="en-US" dirty="0"/>
              <a:t>Loss: </a:t>
            </a:r>
            <a:r>
              <a:rPr lang="en-US" b="1" dirty="0"/>
              <a:t>Cross-entropy</a:t>
            </a:r>
            <a:r>
              <a:rPr lang="en-US" dirty="0"/>
              <a:t>.</a:t>
            </a:r>
          </a:p>
          <a:p>
            <a:r>
              <a:rPr lang="en-US" dirty="0"/>
              <a:t>This keeps the </a:t>
            </a:r>
            <a:r>
              <a:rPr lang="en-US" b="1" dirty="0"/>
              <a:t>evaluation protocol consistent</a:t>
            </a:r>
            <a:r>
              <a:rPr lang="en-US" dirty="0"/>
              <a:t> with the previous CNN models so the comparison is fair.</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43" name="Google Shape;14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The baseline model with PCA + Ridge reaches about </a:t>
            </a:r>
            <a:r>
              <a:rPr lang="en-US" b="1" dirty="0"/>
              <a:t>62% test accuracy</a:t>
            </a:r>
            <a:r>
              <a:rPr lang="en-US" dirty="0"/>
              <a:t>.</a:t>
            </a:r>
          </a:p>
          <a:p>
            <a:r>
              <a:rPr lang="en-US" dirty="0"/>
              <a:t>It learns some structure, but it </a:t>
            </a:r>
            <a:r>
              <a:rPr lang="en-US" b="1" dirty="0"/>
              <a:t>misclassifies many similar signs</a:t>
            </a:r>
            <a:r>
              <a:rPr lang="en-US" dirty="0"/>
              <a:t>, like different speed-limit values or triangular warnings.</a:t>
            </a:r>
          </a:p>
          <a:p>
            <a:r>
              <a:rPr lang="en-US" dirty="0"/>
              <a:t>This model is mainly used as a </a:t>
            </a:r>
            <a:r>
              <a:rPr lang="en-US" b="1" dirty="0"/>
              <a:t>lower benchmark</a:t>
            </a:r>
            <a:r>
              <a:rPr lang="en-US" dirty="0"/>
              <a:t> to highlight how much the CNNs and ResNet-18 improve over a simple linear approach.</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a90fe4011f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50" name="Google Shape;150;g3a90fe4011f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In the confusion matrix, the diagonal is </a:t>
            </a:r>
            <a:r>
              <a:rPr lang="en-US" b="1" dirty="0"/>
              <a:t>faint</a:t>
            </a:r>
            <a:r>
              <a:rPr lang="en-US" dirty="0"/>
              <a:t>, which means relatively few correct predictions per class.</a:t>
            </a:r>
          </a:p>
          <a:p>
            <a:r>
              <a:rPr lang="en-US" dirty="0"/>
              <a:t>Some rows barely have a diagonal at all, showing that </a:t>
            </a:r>
            <a:r>
              <a:rPr lang="en-US" b="1" dirty="0"/>
              <a:t>whole classes are consistently misclassified</a:t>
            </a:r>
            <a:r>
              <a:rPr lang="en-US" dirty="0"/>
              <a:t>.</a:t>
            </a:r>
          </a:p>
          <a:p>
            <a:r>
              <a:rPr lang="en-US" dirty="0"/>
              <a:t>Off-diagonal blobs show </a:t>
            </a:r>
            <a:r>
              <a:rPr lang="en-US" b="1" dirty="0"/>
              <a:t>systematic confusion</a:t>
            </a:r>
            <a:r>
              <a:rPr lang="en-US" dirty="0"/>
              <a:t> between visually similar signs.</a:t>
            </a:r>
          </a:p>
          <a:p>
            <a:r>
              <a:rPr lang="en-US" dirty="0"/>
              <a:t>This motivates moving to </a:t>
            </a:r>
            <a:r>
              <a:rPr lang="en-US" b="1" dirty="0"/>
              <a:t>CNNs</a:t>
            </a:r>
            <a:r>
              <a:rPr lang="en-US" dirty="0"/>
              <a:t> and later to </a:t>
            </a:r>
            <a:r>
              <a:rPr lang="en-US" b="1" dirty="0"/>
              <a:t>ResNet-18</a:t>
            </a:r>
            <a:r>
              <a:rPr lang="en-US" dirty="0"/>
              <a:t>.</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C18ED3FE-85E9-103C-6788-0E19997DA108}"/>
            </a:ext>
          </a:extLst>
        </p:cNvPr>
        <p:cNvGrpSpPr/>
        <p:nvPr/>
      </p:nvGrpSpPr>
      <p:grpSpPr>
        <a:xfrm>
          <a:off x="0" y="0"/>
          <a:ext cx="0" cy="0"/>
          <a:chOff x="0" y="0"/>
          <a:chExt cx="0" cy="0"/>
        </a:xfrm>
      </p:grpSpPr>
      <p:sp>
        <p:nvSpPr>
          <p:cNvPr id="149" name="Google Shape;149;g3a90fe4011f_0_6:notes">
            <a:extLst>
              <a:ext uri="{FF2B5EF4-FFF2-40B4-BE49-F238E27FC236}">
                <a16:creationId xmlns:a16="http://schemas.microsoft.com/office/drawing/2014/main" id="{BD162E17-ED30-67B0-4E14-3F5D16E217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50" name="Google Shape;150;g3a90fe4011f_0_6:notes">
            <a:extLst>
              <a:ext uri="{FF2B5EF4-FFF2-40B4-BE49-F238E27FC236}">
                <a16:creationId xmlns:a16="http://schemas.microsoft.com/office/drawing/2014/main" id="{1990690C-CAE2-FB3A-DFED-ED17BAE93E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This is the </a:t>
            </a:r>
            <a:r>
              <a:rPr lang="en-US" b="1" dirty="0"/>
              <a:t>confusion matrix for my ResNet-18 model</a:t>
            </a:r>
            <a:r>
              <a:rPr lang="en-US" dirty="0"/>
              <a:t>.</a:t>
            </a:r>
          </a:p>
          <a:p>
            <a:r>
              <a:rPr lang="en-US" dirty="0"/>
              <a:t>Compared to the baseline and even the CNNs, the diagonal here is </a:t>
            </a:r>
            <a:r>
              <a:rPr lang="en-US" b="1" dirty="0"/>
              <a:t>very dark and continuous</a:t>
            </a:r>
            <a:r>
              <a:rPr lang="en-US" dirty="0"/>
              <a:t>, meaning most samples are classified correctly.</a:t>
            </a:r>
          </a:p>
          <a:p>
            <a:r>
              <a:rPr lang="en-US" dirty="0"/>
              <a:t>Off-diagonal entries are mostly </a:t>
            </a:r>
            <a:r>
              <a:rPr lang="en-US" b="1" dirty="0"/>
              <a:t>very faint or empty</a:t>
            </a:r>
            <a:r>
              <a:rPr lang="en-US" dirty="0"/>
              <a:t>, which shows only a few misclassifications.</a:t>
            </a:r>
          </a:p>
          <a:p>
            <a:r>
              <a:rPr lang="en-US" dirty="0"/>
              <a:t>The few remaining errors are mainly between </a:t>
            </a:r>
            <a:r>
              <a:rPr lang="en-US" b="1" dirty="0"/>
              <a:t>extremely similar signs</a:t>
            </a:r>
            <a:r>
              <a:rPr lang="en-US" dirty="0"/>
              <a:t>, for example </a:t>
            </a:r>
            <a:r>
              <a:rPr lang="en-US" dirty="0" err="1"/>
              <a:t>neighbouring</a:t>
            </a:r>
            <a:r>
              <a:rPr lang="en-US" dirty="0"/>
              <a:t> speed-limit values or similar triangular warnings.</a:t>
            </a:r>
          </a:p>
          <a:p>
            <a:r>
              <a:rPr lang="en-US" dirty="0"/>
              <a:t>This visual confirms that ResNet-18 has the </a:t>
            </a:r>
            <a:r>
              <a:rPr lang="en-US" b="1" dirty="0"/>
              <a:t>best overall generalization</a:t>
            </a:r>
            <a:r>
              <a:rPr lang="en-US" dirty="0"/>
              <a:t> among all the models.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294636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57" name="Google Shape;15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Here we compare the three deep learning models:</a:t>
            </a:r>
          </a:p>
          <a:p>
            <a:r>
              <a:rPr lang="en-US" b="1" dirty="0"/>
              <a:t>Plain CNN</a:t>
            </a:r>
            <a:r>
              <a:rPr lang="en-US" dirty="0"/>
              <a:t>: about </a:t>
            </a:r>
            <a:r>
              <a:rPr lang="en-US" b="1" dirty="0"/>
              <a:t>91–92%</a:t>
            </a:r>
            <a:r>
              <a:rPr lang="en-US" dirty="0"/>
              <a:t> test accuracy, but clear </a:t>
            </a:r>
            <a:r>
              <a:rPr lang="en-US" b="1" dirty="0"/>
              <a:t>overfitting</a:t>
            </a:r>
            <a:r>
              <a:rPr lang="en-US" dirty="0"/>
              <a:t> — training accuracy goes to ~100%, validation a bit lower.</a:t>
            </a:r>
          </a:p>
          <a:p>
            <a:r>
              <a:rPr lang="en-US" b="1" dirty="0"/>
              <a:t>Regularized CNN</a:t>
            </a:r>
            <a:r>
              <a:rPr lang="en-US" dirty="0"/>
              <a:t>: about </a:t>
            </a:r>
            <a:r>
              <a:rPr lang="en-US" b="1" dirty="0"/>
              <a:t>97%</a:t>
            </a:r>
            <a:r>
              <a:rPr lang="en-US" dirty="0"/>
              <a:t> test accuracy; </a:t>
            </a:r>
            <a:r>
              <a:rPr lang="en-US" dirty="0" err="1"/>
              <a:t>BatchNorm</a:t>
            </a:r>
            <a:r>
              <a:rPr lang="en-US" dirty="0"/>
              <a:t>, Dropout, and weight decay make training much more stable and reduce overfitting.</a:t>
            </a:r>
          </a:p>
          <a:p>
            <a:r>
              <a:rPr lang="en-US" b="1" dirty="0"/>
              <a:t>ResNet-18</a:t>
            </a:r>
            <a:r>
              <a:rPr lang="en-US" dirty="0"/>
              <a:t> (my extension): about </a:t>
            </a:r>
            <a:r>
              <a:rPr lang="en-US" b="1" dirty="0"/>
              <a:t>98.9%</a:t>
            </a:r>
            <a:r>
              <a:rPr lang="en-US" dirty="0"/>
              <a:t> test accuracy, which is the </a:t>
            </a:r>
            <a:r>
              <a:rPr lang="en-US" b="1" dirty="0"/>
              <a:t>best result</a:t>
            </a:r>
            <a:r>
              <a:rPr lang="en-US" dirty="0"/>
              <a:t>.</a:t>
            </a:r>
          </a:p>
          <a:p>
            <a:r>
              <a:rPr lang="en-US" dirty="0"/>
              <a:t>So we see a clear trend:</a:t>
            </a:r>
          </a:p>
          <a:p>
            <a:r>
              <a:rPr lang="en-US" dirty="0"/>
              <a:t>As we go from custom CNNs to </a:t>
            </a:r>
            <a:r>
              <a:rPr lang="en-US" b="1" dirty="0"/>
              <a:t>ResNet-18 with transfer learning</a:t>
            </a:r>
            <a:r>
              <a:rPr lang="en-US" dirty="0"/>
              <a:t>, both accuracy and robustness improve.</a:t>
            </a:r>
          </a:p>
          <a:p>
            <a:r>
              <a:rPr lang="en-US" dirty="0"/>
              <a:t>The models all use the </a:t>
            </a:r>
            <a:r>
              <a:rPr lang="en-US" b="1" dirty="0"/>
              <a:t>same test set</a:t>
            </a:r>
            <a:r>
              <a:rPr lang="en-US" dirty="0"/>
              <a:t>, so this is a fair one-to-one comparison.</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a90fe4011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64" name="Google Shape;164;g3a90fe4011f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These confusion matrices are for the </a:t>
            </a:r>
            <a:r>
              <a:rPr lang="en-US" b="1" dirty="0"/>
              <a:t>Plain CNN</a:t>
            </a:r>
            <a:r>
              <a:rPr lang="en-US" dirty="0"/>
              <a:t> and the </a:t>
            </a:r>
            <a:r>
              <a:rPr lang="en-US" b="1" dirty="0"/>
              <a:t>Regularized CNN</a:t>
            </a:r>
            <a:r>
              <a:rPr lang="en-US" dirty="0"/>
              <a:t>.</a:t>
            </a:r>
          </a:p>
          <a:p>
            <a:r>
              <a:rPr lang="en-US" dirty="0"/>
              <a:t>Plain CNN: diagonal is strong but there are still noticeable off-diagonal errors, especially for visually similar classes.</a:t>
            </a:r>
          </a:p>
          <a:p>
            <a:r>
              <a:rPr lang="en-US" dirty="0"/>
              <a:t>Regularized CNN: the diagonal becomes </a:t>
            </a:r>
            <a:r>
              <a:rPr lang="en-US" b="1" dirty="0"/>
              <a:t>cleaner</a:t>
            </a:r>
            <a:r>
              <a:rPr lang="en-US" dirty="0"/>
              <a:t>, and the off-diagonal entries are much fainter, showing fewer misclassifications.</a:t>
            </a:r>
          </a:p>
          <a:p>
            <a:r>
              <a:rPr lang="en-US" dirty="0"/>
              <a:t>This slide shows that </a:t>
            </a:r>
            <a:r>
              <a:rPr lang="en-US" b="1" dirty="0"/>
              <a:t>regularization helps</a:t>
            </a:r>
            <a:r>
              <a:rPr lang="en-US" dirty="0"/>
              <a:t>, and my ResNet-18 extension builds on that by using a </a:t>
            </a:r>
            <a:r>
              <a:rPr lang="en-US" b="1" dirty="0"/>
              <a:t>deeper, pretrained architecture</a:t>
            </a:r>
            <a:r>
              <a:rPr lang="en-US" dirty="0"/>
              <a:t>.</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a90fe4011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3a90fe4011f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These are the learning curves for the </a:t>
            </a:r>
            <a:r>
              <a:rPr lang="en-US" b="1" dirty="0"/>
              <a:t>Plain CNN</a:t>
            </a:r>
            <a:r>
              <a:rPr lang="en-US" dirty="0"/>
              <a:t> and the </a:t>
            </a:r>
            <a:r>
              <a:rPr lang="en-US" b="1" dirty="0"/>
              <a:t>Regularized CNN</a:t>
            </a:r>
            <a:r>
              <a:rPr lang="en-US" dirty="0"/>
              <a:t>.</a:t>
            </a:r>
          </a:p>
          <a:p>
            <a:r>
              <a:rPr lang="en-US" dirty="0"/>
              <a:t>Plain CNN: training loss goes almost to zero and training accuracy to 100%, while validation curves level off → </a:t>
            </a:r>
            <a:r>
              <a:rPr lang="en-US" b="1" dirty="0"/>
              <a:t>overfitting</a:t>
            </a:r>
            <a:r>
              <a:rPr lang="en-US" dirty="0"/>
              <a:t>.</a:t>
            </a:r>
          </a:p>
          <a:p>
            <a:r>
              <a:rPr lang="en-US" dirty="0"/>
              <a:t>Regularized CNN: training and validation curves stay </a:t>
            </a:r>
            <a:r>
              <a:rPr lang="en-US" b="1" dirty="0"/>
              <a:t>much closer</a:t>
            </a:r>
            <a:r>
              <a:rPr lang="en-US" dirty="0"/>
              <a:t>, which means better generalization.</a:t>
            </a:r>
          </a:p>
          <a:p>
            <a:r>
              <a:rPr lang="en-US" dirty="0"/>
              <a:t>This analysis motivated trying a </a:t>
            </a:r>
            <a:r>
              <a:rPr lang="en-US" b="1" dirty="0"/>
              <a:t>stronger but still well-behaved model</a:t>
            </a:r>
            <a:r>
              <a:rPr lang="en-US" dirty="0"/>
              <a:t>, which is what led to my ResNet-18 extension.</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D18D6BDE-2636-4A21-F44C-E518C2DF611C}"/>
            </a:ext>
          </a:extLst>
        </p:cNvPr>
        <p:cNvGrpSpPr/>
        <p:nvPr/>
      </p:nvGrpSpPr>
      <p:grpSpPr>
        <a:xfrm>
          <a:off x="0" y="0"/>
          <a:ext cx="0" cy="0"/>
          <a:chOff x="0" y="0"/>
          <a:chExt cx="0" cy="0"/>
        </a:xfrm>
      </p:grpSpPr>
      <p:sp>
        <p:nvSpPr>
          <p:cNvPr id="163" name="Google Shape;163;g3a90fe4011f_0_17:notes">
            <a:extLst>
              <a:ext uri="{FF2B5EF4-FFF2-40B4-BE49-F238E27FC236}">
                <a16:creationId xmlns:a16="http://schemas.microsoft.com/office/drawing/2014/main" id="{4B735ED5-2FFF-3A66-554D-BA5889A221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64" name="Google Shape;164;g3a90fe4011f_0_17:notes">
            <a:extLst>
              <a:ext uri="{FF2B5EF4-FFF2-40B4-BE49-F238E27FC236}">
                <a16:creationId xmlns:a16="http://schemas.microsoft.com/office/drawing/2014/main" id="{1C7407E8-22C5-A636-8928-99F8383DA3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This slide is focused on </a:t>
            </a:r>
            <a:r>
              <a:rPr lang="en-US" b="1" dirty="0"/>
              <a:t>ResNet-18</a:t>
            </a:r>
            <a:r>
              <a:rPr lang="en-US" dirty="0"/>
              <a:t>, the model I added.</a:t>
            </a:r>
          </a:p>
          <a:p>
            <a:r>
              <a:rPr lang="en-US" dirty="0"/>
              <a:t>ResNet-18 is a </a:t>
            </a:r>
            <a:r>
              <a:rPr lang="en-US" b="1" dirty="0"/>
              <a:t>deeper residual network</a:t>
            </a:r>
            <a:r>
              <a:rPr lang="en-US" dirty="0"/>
              <a:t> pretrained on </a:t>
            </a:r>
            <a:r>
              <a:rPr lang="en-US" b="1" dirty="0"/>
              <a:t>ImageNet</a:t>
            </a:r>
            <a:r>
              <a:rPr lang="en-US" dirty="0"/>
              <a:t>, which gives us a strong starting point for feature extraction.</a:t>
            </a:r>
          </a:p>
          <a:p>
            <a:r>
              <a:rPr lang="en-US" dirty="0"/>
              <a:t>I adapted it to GTSRB by </a:t>
            </a:r>
            <a:r>
              <a:rPr lang="en-US" b="1" dirty="0"/>
              <a:t>replacing the final fully connected layer</a:t>
            </a:r>
            <a:r>
              <a:rPr lang="en-US" dirty="0"/>
              <a:t> with a 43-class output layer and then </a:t>
            </a:r>
            <a:r>
              <a:rPr lang="en-US" b="1" dirty="0"/>
              <a:t>fine-tuning</a:t>
            </a:r>
            <a:r>
              <a:rPr lang="en-US" dirty="0"/>
              <a:t> on the traffic sign data.</a:t>
            </a:r>
          </a:p>
          <a:p>
            <a:r>
              <a:rPr lang="en-US" dirty="0"/>
              <a:t>Because of the pretrained weights and residual connections, ResNet-18 learns very good features for subtle differences between traffic signs, which explains its </a:t>
            </a:r>
            <a:r>
              <a:rPr lang="en-US" b="1" dirty="0"/>
              <a:t>higher accuracy and cleaner confusion matrix</a:t>
            </a:r>
            <a:r>
              <a:rPr lang="en-US" dirty="0"/>
              <a:t>.</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45410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a90fe4011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72" name="Google Shape;172;g3a90fe4011f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Here we see </a:t>
            </a:r>
            <a:r>
              <a:rPr lang="en-US" b="1" dirty="0"/>
              <a:t>ResNet-18’s training and validation curves</a:t>
            </a:r>
            <a:r>
              <a:rPr lang="en-US" dirty="0"/>
              <a:t>.</a:t>
            </a:r>
          </a:p>
          <a:p>
            <a:r>
              <a:rPr lang="en-US" dirty="0"/>
              <a:t>They remain close throughout training, with validation accuracy stabilizing around </a:t>
            </a:r>
            <a:r>
              <a:rPr lang="en-US" b="1" dirty="0"/>
              <a:t>98–99%</a:t>
            </a:r>
            <a:r>
              <a:rPr lang="en-US" dirty="0"/>
              <a:t>.</a:t>
            </a:r>
          </a:p>
          <a:p>
            <a:r>
              <a:rPr lang="en-US" dirty="0"/>
              <a:t>This shows that the model is </a:t>
            </a:r>
            <a:r>
              <a:rPr lang="en-US" b="1" dirty="0"/>
              <a:t>learning effectively without severe overfitting</a:t>
            </a:r>
            <a:r>
              <a:rPr lang="en-US" dirty="0"/>
              <a:t>, which matches the strong test accuracy and confusion matrix we saw earlier.</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Beyond accuracy, I wanted to understand </a:t>
            </a:r>
            <a:r>
              <a:rPr lang="en-US" b="1" dirty="0"/>
              <a:t>how</a:t>
            </a:r>
            <a:r>
              <a:rPr lang="en-US" dirty="0"/>
              <a:t> ResNet-18 makes its decisions.</a:t>
            </a:r>
          </a:p>
          <a:p>
            <a:r>
              <a:rPr lang="en-US" dirty="0"/>
              <a:t>I added two tools in this extension:</a:t>
            </a:r>
          </a:p>
          <a:p>
            <a:pPr lvl="1"/>
            <a:r>
              <a:rPr lang="en-US" dirty="0"/>
              <a:t>A </a:t>
            </a:r>
            <a:r>
              <a:rPr lang="en-US" b="1" dirty="0"/>
              <a:t>misclassification viewer</a:t>
            </a:r>
            <a:r>
              <a:rPr lang="en-US" dirty="0"/>
              <a:t> that shows the image, the true label, and the predicted label.</a:t>
            </a:r>
          </a:p>
          <a:p>
            <a:pPr lvl="1"/>
            <a:r>
              <a:rPr lang="en-US" b="1" dirty="0"/>
              <a:t>Grad-CAM</a:t>
            </a:r>
            <a:r>
              <a:rPr lang="en-US" dirty="0"/>
              <a:t>, which highlights the regions in the image that contributed most to the prediction.</a:t>
            </a:r>
          </a:p>
          <a:p>
            <a:r>
              <a:rPr lang="en-US" dirty="0"/>
              <a:t>In correctly classified images, Grad-CAM usually focuses on the </a:t>
            </a:r>
            <a:r>
              <a:rPr lang="en-US" b="1" dirty="0"/>
              <a:t>traffic sign region</a:t>
            </a:r>
            <a:r>
              <a:rPr lang="en-US" dirty="0"/>
              <a:t>: digits, icons, or the border.</a:t>
            </a:r>
          </a:p>
          <a:p>
            <a:r>
              <a:rPr lang="en-US" dirty="0"/>
              <a:t>In misclassified images, the heatmaps sometimes highlight only part of the sign or even parts of the </a:t>
            </a:r>
            <a:r>
              <a:rPr lang="en-US" b="1" dirty="0"/>
              <a:t>background</a:t>
            </a:r>
            <a:r>
              <a:rPr lang="en-US" dirty="0"/>
              <a:t>, which helps explain why the model gets confused.</a:t>
            </a:r>
          </a:p>
          <a:p>
            <a:r>
              <a:rPr lang="en-US" dirty="0"/>
              <a:t>The misclassified examples are often </a:t>
            </a:r>
            <a:r>
              <a:rPr lang="en-US" b="1" dirty="0"/>
              <a:t>very hard cases</a:t>
            </a:r>
            <a:r>
              <a:rPr lang="en-US" dirty="0"/>
              <a:t>: blurred, occluded, or extremely similar signs, which suggests that remaining errors are close to the limits of the data itself.</a:t>
            </a:r>
          </a:p>
          <a:p>
            <a:endParaRPr lang="en-IN" dirty="0"/>
          </a:p>
        </p:txBody>
      </p:sp>
    </p:spTree>
    <p:extLst>
      <p:ext uri="{BB962C8B-B14F-4D97-AF65-F5344CB8AC3E}">
        <p14:creationId xmlns:p14="http://schemas.microsoft.com/office/powerpoint/2010/main" val="3106222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80" name="Google Shape;18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Based on the ResNet-18 extension, there are several natural next steps:</a:t>
            </a:r>
          </a:p>
          <a:p>
            <a:r>
              <a:rPr lang="en-US" dirty="0"/>
              <a:t>Try </a:t>
            </a:r>
            <a:r>
              <a:rPr lang="en-US" b="1" dirty="0"/>
              <a:t>other architectures</a:t>
            </a:r>
            <a:r>
              <a:rPr lang="en-US" dirty="0"/>
              <a:t>, like ResNet-34 or </a:t>
            </a:r>
            <a:r>
              <a:rPr lang="en-US" dirty="0" err="1"/>
              <a:t>MobileNet</a:t>
            </a:r>
            <a:r>
              <a:rPr lang="en-US" dirty="0"/>
              <a:t>, to trade off accuracy vs efficiency.</a:t>
            </a:r>
          </a:p>
          <a:p>
            <a:r>
              <a:rPr lang="en-US" dirty="0"/>
              <a:t>Use </a:t>
            </a:r>
            <a:r>
              <a:rPr lang="en-US" b="1" dirty="0"/>
              <a:t>stronger data augmentation</a:t>
            </a:r>
            <a:r>
              <a:rPr lang="en-US" dirty="0"/>
              <a:t> and more systematic hyperparameter tuning, for example different learning-rate schedules.</a:t>
            </a:r>
          </a:p>
          <a:p>
            <a:r>
              <a:rPr lang="en-US" dirty="0"/>
              <a:t>Explore </a:t>
            </a:r>
            <a:r>
              <a:rPr lang="en-US" b="1" dirty="0"/>
              <a:t>ensembles</a:t>
            </a:r>
            <a:r>
              <a:rPr lang="en-US" dirty="0"/>
              <a:t>, combining the Regularized CNN with ResNet-18.</a:t>
            </a:r>
          </a:p>
          <a:p>
            <a:r>
              <a:rPr lang="en-US" dirty="0"/>
              <a:t>Build a simple </a:t>
            </a:r>
            <a:r>
              <a:rPr lang="en-US" b="1" dirty="0"/>
              <a:t>real-time demo</a:t>
            </a:r>
            <a:r>
              <a:rPr lang="en-US" dirty="0"/>
              <a:t> with webcam or video input to see how the model behaves in a more realistic setting.</a:t>
            </a:r>
          </a:p>
          <a:p>
            <a:r>
              <a:rPr lang="en-US" dirty="0"/>
              <a:t>Extend explainability beyond Grad-CAM to cross-check how the model reasons about different signs.</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86" name="Google Shape;18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t>The original project work included:</a:t>
            </a:r>
          </a:p>
          <a:p>
            <a:r>
              <a:rPr lang="en-US" dirty="0"/>
              <a:t>Implementing the </a:t>
            </a:r>
            <a:r>
              <a:rPr lang="en-US" b="1" dirty="0"/>
              <a:t>baseline (PCA + Ridge)</a:t>
            </a:r>
            <a:r>
              <a:rPr lang="en-US" dirty="0"/>
              <a:t> and the </a:t>
            </a:r>
            <a:r>
              <a:rPr lang="en-US" b="1" dirty="0"/>
              <a:t>Plain / Regularized CNNs</a:t>
            </a:r>
            <a:r>
              <a:rPr lang="en-US" dirty="0"/>
              <a:t>.</a:t>
            </a:r>
          </a:p>
          <a:p>
            <a:r>
              <a:rPr lang="en-US" dirty="0"/>
              <a:t>Generating initial </a:t>
            </a:r>
            <a:r>
              <a:rPr lang="en-US" b="1" dirty="0"/>
              <a:t>metrics, confusion matrices, and learning curves</a:t>
            </a:r>
            <a:r>
              <a:rPr lang="en-US" dirty="0"/>
              <a:t>.</a:t>
            </a:r>
          </a:p>
          <a:p>
            <a:r>
              <a:rPr lang="en-US" dirty="0"/>
              <a:t>My contribution in this extension was to:</a:t>
            </a:r>
          </a:p>
          <a:p>
            <a:r>
              <a:rPr lang="en-US" dirty="0"/>
              <a:t>Integrate and </a:t>
            </a:r>
            <a:r>
              <a:rPr lang="en-US" b="1" dirty="0"/>
              <a:t>fine-tune ResNet-18</a:t>
            </a:r>
            <a:r>
              <a:rPr lang="en-US" dirty="0"/>
              <a:t> on GTSRB using transfer learning.</a:t>
            </a:r>
          </a:p>
          <a:p>
            <a:r>
              <a:rPr lang="en-US" dirty="0"/>
              <a:t>Implement the </a:t>
            </a:r>
            <a:r>
              <a:rPr lang="en-US" b="1" dirty="0"/>
              <a:t>224×224 + ImageNet normalization</a:t>
            </a:r>
            <a:r>
              <a:rPr lang="en-US" dirty="0"/>
              <a:t> data pipeline with light augmentation.</a:t>
            </a:r>
          </a:p>
          <a:p>
            <a:r>
              <a:rPr lang="en-US" dirty="0"/>
              <a:t>Evaluate ResNet-18 and compare it fairly against the baseline and CNN models using the same test set.</a:t>
            </a:r>
          </a:p>
          <a:p>
            <a:r>
              <a:rPr lang="en-US" dirty="0"/>
              <a:t>Add </a:t>
            </a:r>
            <a:r>
              <a:rPr lang="en-US" b="1" dirty="0"/>
              <a:t>error analysis tools</a:t>
            </a:r>
            <a:r>
              <a:rPr lang="en-US" dirty="0"/>
              <a:t>: a misclassification viewer and </a:t>
            </a:r>
            <a:r>
              <a:rPr lang="en-US" b="1" dirty="0"/>
              <a:t>Grad-CAM</a:t>
            </a:r>
            <a:r>
              <a:rPr lang="en-US" dirty="0"/>
              <a:t> visual explanations.</a:t>
            </a:r>
          </a:p>
          <a:p>
            <a:r>
              <a:rPr lang="en-US" dirty="0"/>
              <a:t>And finally, write the </a:t>
            </a:r>
            <a:r>
              <a:rPr lang="en-US" b="1" dirty="0"/>
              <a:t>extension report</a:t>
            </a:r>
            <a:r>
              <a:rPr lang="en-US" dirty="0"/>
              <a:t> and </a:t>
            </a:r>
            <a:r>
              <a:rPr lang="en-US" b="1" dirty="0"/>
              <a:t>update this presentation</a:t>
            </a:r>
            <a:r>
              <a:rPr lang="en-US" dirty="0"/>
              <a:t> to integrate the new results.</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200" name="Google Shape;20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12192000" cy="6504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 name="Google Shape;11;p2"/>
          <p:cNvGrpSpPr/>
          <p:nvPr/>
        </p:nvGrpSpPr>
        <p:grpSpPr>
          <a:xfrm>
            <a:off x="1107036" y="1588427"/>
            <a:ext cx="994316" cy="61102"/>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 name="Google Shape;14;p2"/>
          <p:cNvSpPr txBox="1">
            <a:spLocks noGrp="1"/>
          </p:cNvSpPr>
          <p:nvPr>
            <p:ph type="ctrTitle"/>
          </p:nvPr>
        </p:nvSpPr>
        <p:spPr>
          <a:xfrm>
            <a:off x="972600" y="1763267"/>
            <a:ext cx="10250700" cy="2219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5600"/>
              <a:buNone/>
              <a:defRPr sz="5600"/>
            </a:lvl1pPr>
            <a:lvl2pPr lvl="1" algn="l">
              <a:lnSpc>
                <a:spcPct val="100000"/>
              </a:lnSpc>
              <a:spcBef>
                <a:spcPts val="0"/>
              </a:spcBef>
              <a:spcAft>
                <a:spcPts val="0"/>
              </a:spcAft>
              <a:buSzPts val="5600"/>
              <a:buNone/>
              <a:defRPr sz="5600"/>
            </a:lvl2pPr>
            <a:lvl3pPr lvl="2" algn="l">
              <a:lnSpc>
                <a:spcPct val="100000"/>
              </a:lnSpc>
              <a:spcBef>
                <a:spcPts val="0"/>
              </a:spcBef>
              <a:spcAft>
                <a:spcPts val="0"/>
              </a:spcAft>
              <a:buSzPts val="5600"/>
              <a:buNone/>
              <a:defRPr sz="5600"/>
            </a:lvl3pPr>
            <a:lvl4pPr lvl="3" algn="l">
              <a:lnSpc>
                <a:spcPct val="100000"/>
              </a:lnSpc>
              <a:spcBef>
                <a:spcPts val="0"/>
              </a:spcBef>
              <a:spcAft>
                <a:spcPts val="0"/>
              </a:spcAft>
              <a:buSzPts val="5600"/>
              <a:buNone/>
              <a:defRPr sz="5600"/>
            </a:lvl4pPr>
            <a:lvl5pPr lvl="4" algn="l">
              <a:lnSpc>
                <a:spcPct val="100000"/>
              </a:lnSpc>
              <a:spcBef>
                <a:spcPts val="0"/>
              </a:spcBef>
              <a:spcAft>
                <a:spcPts val="0"/>
              </a:spcAft>
              <a:buSzPts val="5600"/>
              <a:buNone/>
              <a:defRPr sz="5600"/>
            </a:lvl5pPr>
            <a:lvl6pPr lvl="5" algn="l">
              <a:lnSpc>
                <a:spcPct val="100000"/>
              </a:lnSpc>
              <a:spcBef>
                <a:spcPts val="0"/>
              </a:spcBef>
              <a:spcAft>
                <a:spcPts val="0"/>
              </a:spcAft>
              <a:buSzPts val="5600"/>
              <a:buNone/>
              <a:defRPr sz="5600"/>
            </a:lvl6pPr>
            <a:lvl7pPr lvl="6" algn="l">
              <a:lnSpc>
                <a:spcPct val="100000"/>
              </a:lnSpc>
              <a:spcBef>
                <a:spcPts val="0"/>
              </a:spcBef>
              <a:spcAft>
                <a:spcPts val="0"/>
              </a:spcAft>
              <a:buSzPts val="5600"/>
              <a:buNone/>
              <a:defRPr sz="5600"/>
            </a:lvl7pPr>
            <a:lvl8pPr lvl="7" algn="l">
              <a:lnSpc>
                <a:spcPct val="100000"/>
              </a:lnSpc>
              <a:spcBef>
                <a:spcPts val="0"/>
              </a:spcBef>
              <a:spcAft>
                <a:spcPts val="0"/>
              </a:spcAft>
              <a:buSzPts val="5600"/>
              <a:buNone/>
              <a:defRPr sz="5600"/>
            </a:lvl8pPr>
            <a:lvl9pPr lvl="8" algn="l">
              <a:lnSpc>
                <a:spcPct val="100000"/>
              </a:lnSpc>
              <a:spcBef>
                <a:spcPts val="0"/>
              </a:spcBef>
              <a:spcAft>
                <a:spcPts val="0"/>
              </a:spcAft>
              <a:buSzPts val="5600"/>
              <a:buNone/>
              <a:defRPr sz="5600"/>
            </a:lvl9pPr>
          </a:lstStyle>
          <a:p>
            <a:endParaRPr/>
          </a:p>
        </p:txBody>
      </p:sp>
      <p:sp>
        <p:nvSpPr>
          <p:cNvPr id="15" name="Google Shape;15;p2"/>
          <p:cNvSpPr txBox="1">
            <a:spLocks noGrp="1"/>
          </p:cNvSpPr>
          <p:nvPr>
            <p:ph type="subTitle" idx="1"/>
          </p:nvPr>
        </p:nvSpPr>
        <p:spPr>
          <a:xfrm>
            <a:off x="972837" y="4230533"/>
            <a:ext cx="10250700" cy="721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3"/>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 name="Google Shape;19;p3"/>
          <p:cNvGrpSpPr/>
          <p:nvPr/>
        </p:nvGrpSpPr>
        <p:grpSpPr>
          <a:xfrm>
            <a:off x="1107036" y="1588427"/>
            <a:ext cx="994316" cy="61102"/>
            <a:chOff x="4580561" y="2589004"/>
            <a:chExt cx="1064464" cy="25200"/>
          </a:xfrm>
        </p:grpSpPr>
        <p:sp>
          <p:nvSpPr>
            <p:cNvPr id="20" name="Google Shape;20;p3"/>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 name="Google Shape;22;p3"/>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23" name="Google Shape;23;p3"/>
          <p:cNvSpPr txBox="1">
            <a:spLocks noGrp="1"/>
          </p:cNvSpPr>
          <p:nvPr>
            <p:ph type="body" idx="1"/>
          </p:nvPr>
        </p:nvSpPr>
        <p:spPr>
          <a:xfrm>
            <a:off x="972434" y="2771833"/>
            <a:ext cx="5032500" cy="30147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SzPts val="1700"/>
              <a:buChar char="●"/>
              <a:defRPr/>
            </a:lvl1pPr>
            <a:lvl2pPr marL="914400" lvl="1" indent="-323850" algn="l">
              <a:lnSpc>
                <a:spcPct val="115000"/>
              </a:lnSpc>
              <a:spcBef>
                <a:spcPts val="0"/>
              </a:spcBef>
              <a:spcAft>
                <a:spcPts val="0"/>
              </a:spcAft>
              <a:buSzPts val="1500"/>
              <a:buChar char="○"/>
              <a:defRPr/>
            </a:lvl2pPr>
            <a:lvl3pPr marL="1371600" lvl="2" indent="-323850" algn="l">
              <a:lnSpc>
                <a:spcPct val="115000"/>
              </a:lnSpc>
              <a:spcBef>
                <a:spcPts val="0"/>
              </a:spcBef>
              <a:spcAft>
                <a:spcPts val="0"/>
              </a:spcAft>
              <a:buSzPts val="1500"/>
              <a:buChar char="■"/>
              <a:defRPr/>
            </a:lvl3pPr>
            <a:lvl4pPr marL="1828800" lvl="3" indent="-323850" algn="l">
              <a:lnSpc>
                <a:spcPct val="115000"/>
              </a:lnSpc>
              <a:spcBef>
                <a:spcPts val="0"/>
              </a:spcBef>
              <a:spcAft>
                <a:spcPts val="0"/>
              </a:spcAft>
              <a:buSzPts val="1500"/>
              <a:buChar char="●"/>
              <a:defRPr/>
            </a:lvl4pPr>
            <a:lvl5pPr marL="2286000" lvl="4" indent="-323850" algn="l">
              <a:lnSpc>
                <a:spcPct val="115000"/>
              </a:lnSpc>
              <a:spcBef>
                <a:spcPts val="0"/>
              </a:spcBef>
              <a:spcAft>
                <a:spcPts val="0"/>
              </a:spcAft>
              <a:buSzPts val="1500"/>
              <a:buChar char="○"/>
              <a:defRPr/>
            </a:lvl5pPr>
            <a:lvl6pPr marL="2743200" lvl="5" indent="-323850" algn="l">
              <a:lnSpc>
                <a:spcPct val="115000"/>
              </a:lnSpc>
              <a:spcBef>
                <a:spcPts val="0"/>
              </a:spcBef>
              <a:spcAft>
                <a:spcPts val="0"/>
              </a:spcAft>
              <a:buSzPts val="1500"/>
              <a:buChar char="■"/>
              <a:defRPr/>
            </a:lvl6pPr>
            <a:lvl7pPr marL="3200400" lvl="6" indent="-323850" algn="l">
              <a:lnSpc>
                <a:spcPct val="115000"/>
              </a:lnSpc>
              <a:spcBef>
                <a:spcPts val="0"/>
              </a:spcBef>
              <a:spcAft>
                <a:spcPts val="0"/>
              </a:spcAft>
              <a:buSzPts val="1500"/>
              <a:buChar char="●"/>
              <a:defRPr/>
            </a:lvl7pPr>
            <a:lvl8pPr marL="3657600" lvl="7" indent="-323850" algn="l">
              <a:lnSpc>
                <a:spcPct val="115000"/>
              </a:lnSpc>
              <a:spcBef>
                <a:spcPts val="0"/>
              </a:spcBef>
              <a:spcAft>
                <a:spcPts val="0"/>
              </a:spcAft>
              <a:buSzPts val="1500"/>
              <a:buChar char="○"/>
              <a:defRPr/>
            </a:lvl8pPr>
            <a:lvl9pPr marL="4114800" lvl="8" indent="-323850" algn="l">
              <a:lnSpc>
                <a:spcPct val="115000"/>
              </a:lnSpc>
              <a:spcBef>
                <a:spcPts val="0"/>
              </a:spcBef>
              <a:spcAft>
                <a:spcPts val="0"/>
              </a:spcAft>
              <a:buSzPts val="1500"/>
              <a:buChar char="■"/>
              <a:defRPr/>
            </a:lvl9pPr>
          </a:lstStyle>
          <a:p>
            <a:endParaRPr/>
          </a:p>
        </p:txBody>
      </p:sp>
      <p:sp>
        <p:nvSpPr>
          <p:cNvPr id="24" name="Google Shape;24;p3"/>
          <p:cNvSpPr txBox="1">
            <a:spLocks noGrp="1"/>
          </p:cNvSpPr>
          <p:nvPr>
            <p:ph type="body" idx="2"/>
          </p:nvPr>
        </p:nvSpPr>
        <p:spPr>
          <a:xfrm>
            <a:off x="6191471" y="2771833"/>
            <a:ext cx="5032500" cy="30147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SzPts val="1700"/>
              <a:buChar char="●"/>
              <a:defRPr/>
            </a:lvl1pPr>
            <a:lvl2pPr marL="914400" lvl="1" indent="-323850" algn="l">
              <a:lnSpc>
                <a:spcPct val="115000"/>
              </a:lnSpc>
              <a:spcBef>
                <a:spcPts val="0"/>
              </a:spcBef>
              <a:spcAft>
                <a:spcPts val="0"/>
              </a:spcAft>
              <a:buSzPts val="1500"/>
              <a:buChar char="○"/>
              <a:defRPr/>
            </a:lvl2pPr>
            <a:lvl3pPr marL="1371600" lvl="2" indent="-323850" algn="l">
              <a:lnSpc>
                <a:spcPct val="115000"/>
              </a:lnSpc>
              <a:spcBef>
                <a:spcPts val="0"/>
              </a:spcBef>
              <a:spcAft>
                <a:spcPts val="0"/>
              </a:spcAft>
              <a:buSzPts val="1500"/>
              <a:buChar char="■"/>
              <a:defRPr/>
            </a:lvl3pPr>
            <a:lvl4pPr marL="1828800" lvl="3" indent="-323850" algn="l">
              <a:lnSpc>
                <a:spcPct val="115000"/>
              </a:lnSpc>
              <a:spcBef>
                <a:spcPts val="0"/>
              </a:spcBef>
              <a:spcAft>
                <a:spcPts val="0"/>
              </a:spcAft>
              <a:buSzPts val="1500"/>
              <a:buChar char="●"/>
              <a:defRPr/>
            </a:lvl4pPr>
            <a:lvl5pPr marL="2286000" lvl="4" indent="-323850" algn="l">
              <a:lnSpc>
                <a:spcPct val="115000"/>
              </a:lnSpc>
              <a:spcBef>
                <a:spcPts val="0"/>
              </a:spcBef>
              <a:spcAft>
                <a:spcPts val="0"/>
              </a:spcAft>
              <a:buSzPts val="1500"/>
              <a:buChar char="○"/>
              <a:defRPr/>
            </a:lvl5pPr>
            <a:lvl6pPr marL="2743200" lvl="5" indent="-323850" algn="l">
              <a:lnSpc>
                <a:spcPct val="115000"/>
              </a:lnSpc>
              <a:spcBef>
                <a:spcPts val="0"/>
              </a:spcBef>
              <a:spcAft>
                <a:spcPts val="0"/>
              </a:spcAft>
              <a:buSzPts val="1500"/>
              <a:buChar char="■"/>
              <a:defRPr/>
            </a:lvl6pPr>
            <a:lvl7pPr marL="3200400" lvl="6" indent="-323850" algn="l">
              <a:lnSpc>
                <a:spcPct val="115000"/>
              </a:lnSpc>
              <a:spcBef>
                <a:spcPts val="0"/>
              </a:spcBef>
              <a:spcAft>
                <a:spcPts val="0"/>
              </a:spcAft>
              <a:buSzPts val="1500"/>
              <a:buChar char="●"/>
              <a:defRPr/>
            </a:lvl7pPr>
            <a:lvl8pPr marL="3657600" lvl="7" indent="-323850" algn="l">
              <a:lnSpc>
                <a:spcPct val="115000"/>
              </a:lnSpc>
              <a:spcBef>
                <a:spcPts val="0"/>
              </a:spcBef>
              <a:spcAft>
                <a:spcPts val="0"/>
              </a:spcAft>
              <a:buSzPts val="1500"/>
              <a:buChar char="○"/>
              <a:defRPr/>
            </a:lvl8pPr>
            <a:lvl9pPr marL="4114800" lvl="8" indent="-323850" algn="l">
              <a:lnSpc>
                <a:spcPct val="115000"/>
              </a:lnSpc>
              <a:spcBef>
                <a:spcPts val="0"/>
              </a:spcBef>
              <a:spcAft>
                <a:spcPts val="0"/>
              </a:spcAft>
              <a:buSzPts val="1500"/>
              <a:buChar char="■"/>
              <a:defRPr/>
            </a:lvl9pPr>
          </a:lstStyle>
          <a:p>
            <a:endParaRPr/>
          </a:p>
        </p:txBody>
      </p:sp>
      <p:sp>
        <p:nvSpPr>
          <p:cNvPr id="25" name="Google Shape;25;p3"/>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8" name="Google Shape;28;p4"/>
          <p:cNvGrpSpPr/>
          <p:nvPr/>
        </p:nvGrpSpPr>
        <p:grpSpPr>
          <a:xfrm>
            <a:off x="1107036" y="1588427"/>
            <a:ext cx="994316" cy="61102"/>
            <a:chOff x="4580561" y="2589004"/>
            <a:chExt cx="1064464" cy="25200"/>
          </a:xfrm>
        </p:grpSpPr>
        <p:sp>
          <p:nvSpPr>
            <p:cNvPr id="29" name="Google Shape;29;p4"/>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 name="Google Shape;31;p4"/>
          <p:cNvSpPr txBox="1">
            <a:spLocks noGrp="1"/>
          </p:cNvSpPr>
          <p:nvPr>
            <p:ph type="title"/>
          </p:nvPr>
        </p:nvSpPr>
        <p:spPr>
          <a:xfrm>
            <a:off x="972600" y="1758200"/>
            <a:ext cx="10251600" cy="713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32" name="Google Shape;32;p4"/>
          <p:cNvSpPr txBox="1">
            <a:spLocks noGrp="1"/>
          </p:cNvSpPr>
          <p:nvPr>
            <p:ph type="body" idx="1"/>
          </p:nvPr>
        </p:nvSpPr>
        <p:spPr>
          <a:xfrm>
            <a:off x="972600" y="2771833"/>
            <a:ext cx="10251600" cy="30147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SzPts val="1700"/>
              <a:buChar char="●"/>
              <a:defRPr/>
            </a:lvl1pPr>
            <a:lvl2pPr marL="914400" lvl="1" indent="-323850" algn="l">
              <a:lnSpc>
                <a:spcPct val="115000"/>
              </a:lnSpc>
              <a:spcBef>
                <a:spcPts val="0"/>
              </a:spcBef>
              <a:spcAft>
                <a:spcPts val="0"/>
              </a:spcAft>
              <a:buSzPts val="1500"/>
              <a:buChar char="○"/>
              <a:defRPr/>
            </a:lvl2pPr>
            <a:lvl3pPr marL="1371600" lvl="2" indent="-323850" algn="l">
              <a:lnSpc>
                <a:spcPct val="115000"/>
              </a:lnSpc>
              <a:spcBef>
                <a:spcPts val="0"/>
              </a:spcBef>
              <a:spcAft>
                <a:spcPts val="0"/>
              </a:spcAft>
              <a:buSzPts val="1500"/>
              <a:buChar char="■"/>
              <a:defRPr/>
            </a:lvl3pPr>
            <a:lvl4pPr marL="1828800" lvl="3" indent="-323850" algn="l">
              <a:lnSpc>
                <a:spcPct val="115000"/>
              </a:lnSpc>
              <a:spcBef>
                <a:spcPts val="0"/>
              </a:spcBef>
              <a:spcAft>
                <a:spcPts val="0"/>
              </a:spcAft>
              <a:buSzPts val="1500"/>
              <a:buChar char="●"/>
              <a:defRPr/>
            </a:lvl4pPr>
            <a:lvl5pPr marL="2286000" lvl="4" indent="-323850" algn="l">
              <a:lnSpc>
                <a:spcPct val="115000"/>
              </a:lnSpc>
              <a:spcBef>
                <a:spcPts val="0"/>
              </a:spcBef>
              <a:spcAft>
                <a:spcPts val="0"/>
              </a:spcAft>
              <a:buSzPts val="1500"/>
              <a:buChar char="○"/>
              <a:defRPr/>
            </a:lvl5pPr>
            <a:lvl6pPr marL="2743200" lvl="5" indent="-323850" algn="l">
              <a:lnSpc>
                <a:spcPct val="115000"/>
              </a:lnSpc>
              <a:spcBef>
                <a:spcPts val="0"/>
              </a:spcBef>
              <a:spcAft>
                <a:spcPts val="0"/>
              </a:spcAft>
              <a:buSzPts val="1500"/>
              <a:buChar char="■"/>
              <a:defRPr/>
            </a:lvl6pPr>
            <a:lvl7pPr marL="3200400" lvl="6" indent="-323850" algn="l">
              <a:lnSpc>
                <a:spcPct val="115000"/>
              </a:lnSpc>
              <a:spcBef>
                <a:spcPts val="0"/>
              </a:spcBef>
              <a:spcAft>
                <a:spcPts val="0"/>
              </a:spcAft>
              <a:buSzPts val="1500"/>
              <a:buChar char="●"/>
              <a:defRPr/>
            </a:lvl7pPr>
            <a:lvl8pPr marL="3657600" lvl="7" indent="-323850" algn="l">
              <a:lnSpc>
                <a:spcPct val="115000"/>
              </a:lnSpc>
              <a:spcBef>
                <a:spcPts val="0"/>
              </a:spcBef>
              <a:spcAft>
                <a:spcPts val="0"/>
              </a:spcAft>
              <a:buSzPts val="1500"/>
              <a:buChar char="○"/>
              <a:defRPr/>
            </a:lvl8pPr>
            <a:lvl9pPr marL="4114800" lvl="8" indent="-323850" algn="l">
              <a:lnSpc>
                <a:spcPct val="115000"/>
              </a:lnSpc>
              <a:spcBef>
                <a:spcPts val="0"/>
              </a:spcBef>
              <a:spcAft>
                <a:spcPts val="0"/>
              </a:spcAft>
              <a:buSzPts val="1500"/>
              <a:buChar char="■"/>
              <a:defRPr/>
            </a:lvl9pPr>
          </a:lstStyle>
          <a:p>
            <a:endParaRPr/>
          </a:p>
        </p:txBody>
      </p:sp>
      <p:sp>
        <p:nvSpPr>
          <p:cNvPr id="33" name="Google Shape;33;p4"/>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type="obj">
  <p:cSld name="OBJECT">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838200" y="1825625"/>
            <a:ext cx="10515600" cy="4070100"/>
          </a:xfrm>
          <a:prstGeom prst="rect">
            <a:avLst/>
          </a:prstGeom>
          <a:noFill/>
          <a:ln>
            <a:noFill/>
          </a:ln>
        </p:spPr>
        <p:txBody>
          <a:bodyPr spcFirstLastPara="1" wrap="square" lIns="91425" tIns="45700" rIns="91425" bIns="45700" anchor="t" anchorCtr="0">
            <a:normAutofit/>
          </a:bodyPr>
          <a:lstStyle>
            <a:lvl1pPr marL="457200" marR="0" lvl="0" indent="-228600" algn="l">
              <a:lnSpc>
                <a:spcPct val="90000"/>
              </a:lnSpc>
              <a:spcBef>
                <a:spcPts val="1000"/>
              </a:spcBef>
              <a:spcAft>
                <a:spcPts val="0"/>
              </a:spcAft>
              <a:buClr>
                <a:schemeClr val="dk1"/>
              </a:buClr>
              <a:buSzPts val="2000"/>
              <a:buFont typeface="Arial"/>
              <a:buNone/>
              <a:defRPr sz="2000"/>
            </a:lvl1pPr>
            <a:lvl2pPr marL="914400" marR="0" lvl="1" indent="-228600" algn="l">
              <a:lnSpc>
                <a:spcPct val="90000"/>
              </a:lnSpc>
              <a:spcBef>
                <a:spcPts val="500"/>
              </a:spcBef>
              <a:spcAft>
                <a:spcPts val="0"/>
              </a:spcAft>
              <a:buClr>
                <a:schemeClr val="dk1"/>
              </a:buClr>
              <a:buSzPts val="2000"/>
              <a:buFont typeface="Arial"/>
              <a:buNone/>
              <a:defRPr/>
            </a:lvl2pPr>
            <a:lvl3pPr marL="1371600" marR="0" lvl="2" indent="-228600" algn="l">
              <a:lnSpc>
                <a:spcPct val="90000"/>
              </a:lnSpc>
              <a:spcBef>
                <a:spcPts val="500"/>
              </a:spcBef>
              <a:spcAft>
                <a:spcPts val="0"/>
              </a:spcAft>
              <a:buClr>
                <a:schemeClr val="dk1"/>
              </a:buClr>
              <a:buSzPts val="1600"/>
              <a:buFont typeface="Arial"/>
              <a:buNone/>
              <a:defRPr/>
            </a:lvl3pPr>
            <a:lvl4pPr marL="1828800" lvl="3" indent="-228600" algn="l">
              <a:lnSpc>
                <a:spcPct val="90000"/>
              </a:lnSpc>
              <a:spcBef>
                <a:spcPts val="500"/>
              </a:spcBef>
              <a:spcAft>
                <a:spcPts val="0"/>
              </a:spcAft>
              <a:buClr>
                <a:schemeClr val="dk1"/>
              </a:buClr>
              <a:buSzPts val="1200"/>
              <a:buNone/>
              <a:defRPr/>
            </a:lvl4pPr>
            <a:lvl5pPr marL="2286000" lvl="4" indent="-228600" algn="l">
              <a:lnSpc>
                <a:spcPct val="90000"/>
              </a:lnSpc>
              <a:spcBef>
                <a:spcPts val="500"/>
              </a:spcBef>
              <a:spcAft>
                <a:spcPts val="0"/>
              </a:spcAft>
              <a:buClr>
                <a:schemeClr val="dk1"/>
              </a:buClr>
              <a:buSzPts val="10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7"/>
        <p:cNvGrpSpPr/>
        <p:nvPr/>
      </p:nvGrpSpPr>
      <p:grpSpPr>
        <a:xfrm>
          <a:off x="0" y="0"/>
          <a:ext cx="0" cy="0"/>
          <a:chOff x="0" y="0"/>
          <a:chExt cx="0" cy="0"/>
        </a:xfrm>
      </p:grpSpPr>
      <p:grpSp>
        <p:nvGrpSpPr>
          <p:cNvPr id="38" name="Google Shape;38;p6"/>
          <p:cNvGrpSpPr/>
          <p:nvPr/>
        </p:nvGrpSpPr>
        <p:grpSpPr>
          <a:xfrm>
            <a:off x="1107036" y="1588427"/>
            <a:ext cx="994316" cy="61102"/>
            <a:chOff x="4580561" y="2589004"/>
            <a:chExt cx="1064464" cy="25200"/>
          </a:xfrm>
        </p:grpSpPr>
        <p:sp>
          <p:nvSpPr>
            <p:cNvPr id="39" name="Google Shape;39;p6"/>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6"/>
          <p:cNvSpPr txBox="1">
            <a:spLocks noGrp="1"/>
          </p:cNvSpPr>
          <p:nvPr>
            <p:ph type="title"/>
          </p:nvPr>
        </p:nvSpPr>
        <p:spPr>
          <a:xfrm>
            <a:off x="972600" y="1763267"/>
            <a:ext cx="10251300" cy="2024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42" name="Google Shape;42;p6"/>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7"/>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7"/>
          <p:cNvGrpSpPr/>
          <p:nvPr/>
        </p:nvGrpSpPr>
        <p:grpSpPr>
          <a:xfrm>
            <a:off x="1107036" y="1588427"/>
            <a:ext cx="994316" cy="61102"/>
            <a:chOff x="4580561" y="2589004"/>
            <a:chExt cx="1064464" cy="25200"/>
          </a:xfrm>
        </p:grpSpPr>
        <p:sp>
          <p:nvSpPr>
            <p:cNvPr id="46" name="Google Shape;46;p7"/>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7"/>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8" name="Google Shape;48;p7"/>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49" name="Google Shape;49;p7"/>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0"/>
        <p:cNvGrpSpPr/>
        <p:nvPr/>
      </p:nvGrpSpPr>
      <p:grpSpPr>
        <a:xfrm>
          <a:off x="0" y="0"/>
          <a:ext cx="0" cy="0"/>
          <a:chOff x="0" y="0"/>
          <a:chExt cx="0" cy="0"/>
        </a:xfrm>
      </p:grpSpPr>
      <p:sp>
        <p:nvSpPr>
          <p:cNvPr id="51" name="Google Shape;51;p8"/>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2" name="Google Shape;52;p8"/>
          <p:cNvGrpSpPr/>
          <p:nvPr/>
        </p:nvGrpSpPr>
        <p:grpSpPr>
          <a:xfrm>
            <a:off x="1107036" y="1588427"/>
            <a:ext cx="994316" cy="61102"/>
            <a:chOff x="4580561" y="2589004"/>
            <a:chExt cx="1064464" cy="25200"/>
          </a:xfrm>
        </p:grpSpPr>
        <p:sp>
          <p:nvSpPr>
            <p:cNvPr id="53" name="Google Shape;53;p8"/>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8"/>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5" name="Google Shape;55;p8"/>
          <p:cNvSpPr txBox="1">
            <a:spLocks noGrp="1"/>
          </p:cNvSpPr>
          <p:nvPr>
            <p:ph type="title"/>
          </p:nvPr>
        </p:nvSpPr>
        <p:spPr>
          <a:xfrm>
            <a:off x="973333" y="1758200"/>
            <a:ext cx="4401300" cy="18420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56" name="Google Shape;56;p8"/>
          <p:cNvSpPr txBox="1">
            <a:spLocks noGrp="1"/>
          </p:cNvSpPr>
          <p:nvPr>
            <p:ph type="body" idx="1"/>
          </p:nvPr>
        </p:nvSpPr>
        <p:spPr>
          <a:xfrm>
            <a:off x="961633" y="3708967"/>
            <a:ext cx="4401300" cy="21300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SzPts val="1700"/>
              <a:buChar char="●"/>
              <a:defRPr/>
            </a:lvl1pPr>
            <a:lvl2pPr marL="914400" lvl="1" indent="-323850" algn="l">
              <a:lnSpc>
                <a:spcPct val="115000"/>
              </a:lnSpc>
              <a:spcBef>
                <a:spcPts val="0"/>
              </a:spcBef>
              <a:spcAft>
                <a:spcPts val="0"/>
              </a:spcAft>
              <a:buSzPts val="1500"/>
              <a:buChar char="○"/>
              <a:defRPr/>
            </a:lvl2pPr>
            <a:lvl3pPr marL="1371600" lvl="2" indent="-323850" algn="l">
              <a:lnSpc>
                <a:spcPct val="115000"/>
              </a:lnSpc>
              <a:spcBef>
                <a:spcPts val="0"/>
              </a:spcBef>
              <a:spcAft>
                <a:spcPts val="0"/>
              </a:spcAft>
              <a:buSzPts val="1500"/>
              <a:buChar char="■"/>
              <a:defRPr/>
            </a:lvl3pPr>
            <a:lvl4pPr marL="1828800" lvl="3" indent="-323850" algn="l">
              <a:lnSpc>
                <a:spcPct val="115000"/>
              </a:lnSpc>
              <a:spcBef>
                <a:spcPts val="0"/>
              </a:spcBef>
              <a:spcAft>
                <a:spcPts val="0"/>
              </a:spcAft>
              <a:buSzPts val="1500"/>
              <a:buChar char="●"/>
              <a:defRPr/>
            </a:lvl4pPr>
            <a:lvl5pPr marL="2286000" lvl="4" indent="-323850" algn="l">
              <a:lnSpc>
                <a:spcPct val="115000"/>
              </a:lnSpc>
              <a:spcBef>
                <a:spcPts val="0"/>
              </a:spcBef>
              <a:spcAft>
                <a:spcPts val="0"/>
              </a:spcAft>
              <a:buSzPts val="1500"/>
              <a:buChar char="○"/>
              <a:defRPr/>
            </a:lvl5pPr>
            <a:lvl6pPr marL="2743200" lvl="5" indent="-323850" algn="l">
              <a:lnSpc>
                <a:spcPct val="115000"/>
              </a:lnSpc>
              <a:spcBef>
                <a:spcPts val="0"/>
              </a:spcBef>
              <a:spcAft>
                <a:spcPts val="0"/>
              </a:spcAft>
              <a:buSzPts val="1500"/>
              <a:buChar char="■"/>
              <a:defRPr/>
            </a:lvl6pPr>
            <a:lvl7pPr marL="3200400" lvl="6" indent="-323850" algn="l">
              <a:lnSpc>
                <a:spcPct val="115000"/>
              </a:lnSpc>
              <a:spcBef>
                <a:spcPts val="0"/>
              </a:spcBef>
              <a:spcAft>
                <a:spcPts val="0"/>
              </a:spcAft>
              <a:buSzPts val="1500"/>
              <a:buChar char="●"/>
              <a:defRPr/>
            </a:lvl7pPr>
            <a:lvl8pPr marL="3657600" lvl="7" indent="-323850" algn="l">
              <a:lnSpc>
                <a:spcPct val="115000"/>
              </a:lnSpc>
              <a:spcBef>
                <a:spcPts val="0"/>
              </a:spcBef>
              <a:spcAft>
                <a:spcPts val="0"/>
              </a:spcAft>
              <a:buSzPts val="1500"/>
              <a:buChar char="○"/>
              <a:defRPr/>
            </a:lvl8pPr>
            <a:lvl9pPr marL="4114800" lvl="8" indent="-323850" algn="l">
              <a:lnSpc>
                <a:spcPct val="115000"/>
              </a:lnSpc>
              <a:spcBef>
                <a:spcPts val="0"/>
              </a:spcBef>
              <a:spcAft>
                <a:spcPts val="0"/>
              </a:spcAft>
              <a:buSzPts val="1500"/>
              <a:buChar char="■"/>
              <a:defRPr/>
            </a:lvl9pPr>
          </a:lstStyle>
          <a:p>
            <a:endParaRPr/>
          </a:p>
        </p:txBody>
      </p:sp>
      <p:sp>
        <p:nvSpPr>
          <p:cNvPr id="57" name="Google Shape;57;p8"/>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8"/>
        <p:cNvGrpSpPr/>
        <p:nvPr/>
      </p:nvGrpSpPr>
      <p:grpSpPr>
        <a:xfrm>
          <a:off x="0" y="0"/>
          <a:ext cx="0" cy="0"/>
          <a:chOff x="0" y="0"/>
          <a:chExt cx="0" cy="0"/>
        </a:xfrm>
      </p:grpSpPr>
      <p:grpSp>
        <p:nvGrpSpPr>
          <p:cNvPr id="59" name="Google Shape;59;p9"/>
          <p:cNvGrpSpPr/>
          <p:nvPr/>
        </p:nvGrpSpPr>
        <p:grpSpPr>
          <a:xfrm>
            <a:off x="1107036" y="5558926"/>
            <a:ext cx="994316" cy="61102"/>
            <a:chOff x="4580561" y="2589004"/>
            <a:chExt cx="1064464" cy="25200"/>
          </a:xfrm>
        </p:grpSpPr>
        <p:sp>
          <p:nvSpPr>
            <p:cNvPr id="60" name="Google Shape;60;p9"/>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9"/>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2" name="Google Shape;62;p9"/>
          <p:cNvSpPr txBox="1">
            <a:spLocks noGrp="1"/>
          </p:cNvSpPr>
          <p:nvPr>
            <p:ph type="title"/>
          </p:nvPr>
        </p:nvSpPr>
        <p:spPr>
          <a:xfrm>
            <a:off x="972600" y="1152400"/>
            <a:ext cx="9361500" cy="39801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3" name="Google Shape;63;p9"/>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4"/>
        <p:cNvGrpSpPr/>
        <p:nvPr/>
      </p:nvGrpSpPr>
      <p:grpSpPr>
        <a:xfrm>
          <a:off x="0" y="0"/>
          <a:ext cx="0" cy="0"/>
          <a:chOff x="0" y="0"/>
          <a:chExt cx="0" cy="0"/>
        </a:xfrm>
      </p:grpSpPr>
      <p:sp>
        <p:nvSpPr>
          <p:cNvPr id="65" name="Google Shape;65;p10"/>
          <p:cNvSpPr/>
          <p:nvPr/>
        </p:nvSpPr>
        <p:spPr>
          <a:xfrm>
            <a:off x="0" y="0"/>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6" name="Google Shape;66;p10"/>
          <p:cNvGrpSpPr/>
          <p:nvPr/>
        </p:nvGrpSpPr>
        <p:grpSpPr>
          <a:xfrm>
            <a:off x="1107036" y="1588427"/>
            <a:ext cx="994316" cy="61102"/>
            <a:chOff x="4580561" y="2589004"/>
            <a:chExt cx="1064464" cy="25200"/>
          </a:xfrm>
        </p:grpSpPr>
        <p:sp>
          <p:nvSpPr>
            <p:cNvPr id="67" name="Google Shape;67;p10"/>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10"/>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9" name="Google Shape;69;p10"/>
          <p:cNvSpPr txBox="1">
            <a:spLocks noGrp="1"/>
          </p:cNvSpPr>
          <p:nvPr>
            <p:ph type="title"/>
          </p:nvPr>
        </p:nvSpPr>
        <p:spPr>
          <a:xfrm>
            <a:off x="973333" y="1758200"/>
            <a:ext cx="4401300" cy="2249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70" name="Google Shape;70;p10"/>
          <p:cNvSpPr txBox="1">
            <a:spLocks noGrp="1"/>
          </p:cNvSpPr>
          <p:nvPr>
            <p:ph type="subTitle" idx="1"/>
          </p:nvPr>
        </p:nvSpPr>
        <p:spPr>
          <a:xfrm>
            <a:off x="966600" y="4215367"/>
            <a:ext cx="4401300" cy="10119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a:endParaRPr/>
          </a:p>
        </p:txBody>
      </p:sp>
      <p:sp>
        <p:nvSpPr>
          <p:cNvPr id="71" name="Google Shape;71;p10"/>
          <p:cNvSpPr txBox="1">
            <a:spLocks noGrp="1"/>
          </p:cNvSpPr>
          <p:nvPr>
            <p:ph type="body" idx="2"/>
          </p:nvPr>
        </p:nvSpPr>
        <p:spPr>
          <a:xfrm>
            <a:off x="6898967" y="1803500"/>
            <a:ext cx="4499100" cy="40341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SzPts val="1700"/>
              <a:buChar char="●"/>
              <a:defRPr/>
            </a:lvl1pPr>
            <a:lvl2pPr marL="914400" lvl="1" indent="-323850" algn="l">
              <a:lnSpc>
                <a:spcPct val="115000"/>
              </a:lnSpc>
              <a:spcBef>
                <a:spcPts val="0"/>
              </a:spcBef>
              <a:spcAft>
                <a:spcPts val="0"/>
              </a:spcAft>
              <a:buSzPts val="1500"/>
              <a:buChar char="○"/>
              <a:defRPr/>
            </a:lvl2pPr>
            <a:lvl3pPr marL="1371600" lvl="2" indent="-323850" algn="l">
              <a:lnSpc>
                <a:spcPct val="115000"/>
              </a:lnSpc>
              <a:spcBef>
                <a:spcPts val="0"/>
              </a:spcBef>
              <a:spcAft>
                <a:spcPts val="0"/>
              </a:spcAft>
              <a:buSzPts val="1500"/>
              <a:buChar char="■"/>
              <a:defRPr/>
            </a:lvl3pPr>
            <a:lvl4pPr marL="1828800" lvl="3" indent="-323850" algn="l">
              <a:lnSpc>
                <a:spcPct val="115000"/>
              </a:lnSpc>
              <a:spcBef>
                <a:spcPts val="0"/>
              </a:spcBef>
              <a:spcAft>
                <a:spcPts val="0"/>
              </a:spcAft>
              <a:buSzPts val="1500"/>
              <a:buChar char="●"/>
              <a:defRPr/>
            </a:lvl4pPr>
            <a:lvl5pPr marL="2286000" lvl="4" indent="-323850" algn="l">
              <a:lnSpc>
                <a:spcPct val="115000"/>
              </a:lnSpc>
              <a:spcBef>
                <a:spcPts val="0"/>
              </a:spcBef>
              <a:spcAft>
                <a:spcPts val="0"/>
              </a:spcAft>
              <a:buSzPts val="1500"/>
              <a:buChar char="○"/>
              <a:defRPr/>
            </a:lvl5pPr>
            <a:lvl6pPr marL="2743200" lvl="5" indent="-323850" algn="l">
              <a:lnSpc>
                <a:spcPct val="115000"/>
              </a:lnSpc>
              <a:spcBef>
                <a:spcPts val="0"/>
              </a:spcBef>
              <a:spcAft>
                <a:spcPts val="0"/>
              </a:spcAft>
              <a:buSzPts val="1500"/>
              <a:buChar char="■"/>
              <a:defRPr/>
            </a:lvl6pPr>
            <a:lvl7pPr marL="3200400" lvl="6" indent="-323850" algn="l">
              <a:lnSpc>
                <a:spcPct val="115000"/>
              </a:lnSpc>
              <a:spcBef>
                <a:spcPts val="0"/>
              </a:spcBef>
              <a:spcAft>
                <a:spcPts val="0"/>
              </a:spcAft>
              <a:buSzPts val="1500"/>
              <a:buChar char="●"/>
              <a:defRPr/>
            </a:lvl7pPr>
            <a:lvl8pPr marL="3657600" lvl="7" indent="-323850" algn="l">
              <a:lnSpc>
                <a:spcPct val="115000"/>
              </a:lnSpc>
              <a:spcBef>
                <a:spcPts val="0"/>
              </a:spcBef>
              <a:spcAft>
                <a:spcPts val="0"/>
              </a:spcAft>
              <a:buSzPts val="1500"/>
              <a:buChar char="○"/>
              <a:defRPr/>
            </a:lvl8pPr>
            <a:lvl9pPr marL="4114800" lvl="8" indent="-323850" algn="l">
              <a:lnSpc>
                <a:spcPct val="115000"/>
              </a:lnSpc>
              <a:spcBef>
                <a:spcPts val="0"/>
              </a:spcBef>
              <a:spcAft>
                <a:spcPts val="0"/>
              </a:spcAft>
              <a:buSzPts val="1500"/>
              <a:buChar char="■"/>
              <a:defRPr/>
            </a:lvl9pPr>
          </a:lstStyle>
          <a:p>
            <a:endParaRPr/>
          </a:p>
        </p:txBody>
      </p:sp>
      <p:sp>
        <p:nvSpPr>
          <p:cNvPr id="72" name="Google Shape;72;p10"/>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3"/>
        <p:cNvGrpSpPr/>
        <p:nvPr/>
      </p:nvGrpSpPr>
      <p:grpSpPr>
        <a:xfrm>
          <a:off x="0" y="0"/>
          <a:ext cx="0" cy="0"/>
          <a:chOff x="0" y="0"/>
          <a:chExt cx="0" cy="0"/>
        </a:xfrm>
      </p:grpSpPr>
      <p:sp>
        <p:nvSpPr>
          <p:cNvPr id="74" name="Google Shape;74;p11"/>
          <p:cNvSpPr txBox="1">
            <a:spLocks noGrp="1"/>
          </p:cNvSpPr>
          <p:nvPr>
            <p:ph type="body" idx="1"/>
          </p:nvPr>
        </p:nvSpPr>
        <p:spPr>
          <a:xfrm>
            <a:off x="966600" y="5830068"/>
            <a:ext cx="10263300" cy="6141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1700"/>
              <a:buNone/>
              <a:defRPr/>
            </a:lvl1pPr>
          </a:lstStyle>
          <a:p>
            <a:endParaRPr/>
          </a:p>
        </p:txBody>
      </p:sp>
      <p:sp>
        <p:nvSpPr>
          <p:cNvPr id="75" name="Google Shape;75;p11"/>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6"/>
        <p:cNvGrpSpPr/>
        <p:nvPr/>
      </p:nvGrpSpPr>
      <p:grpSpPr>
        <a:xfrm>
          <a:off x="0" y="0"/>
          <a:ext cx="0" cy="0"/>
          <a:chOff x="0" y="0"/>
          <a:chExt cx="0" cy="0"/>
        </a:xfrm>
      </p:grpSpPr>
      <p:grpSp>
        <p:nvGrpSpPr>
          <p:cNvPr id="77" name="Google Shape;77;p12"/>
          <p:cNvGrpSpPr/>
          <p:nvPr/>
        </p:nvGrpSpPr>
        <p:grpSpPr>
          <a:xfrm>
            <a:off x="1107036" y="5558926"/>
            <a:ext cx="994316" cy="61102"/>
            <a:chOff x="4580561" y="2589004"/>
            <a:chExt cx="1064464" cy="25200"/>
          </a:xfrm>
        </p:grpSpPr>
        <p:sp>
          <p:nvSpPr>
            <p:cNvPr id="78" name="Google Shape;78;p12"/>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2"/>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0" name="Google Shape;80;p12"/>
          <p:cNvSpPr txBox="1">
            <a:spLocks noGrp="1"/>
          </p:cNvSpPr>
          <p:nvPr>
            <p:ph type="title" hasCustomPrompt="1"/>
          </p:nvPr>
        </p:nvSpPr>
        <p:spPr>
          <a:xfrm>
            <a:off x="972600" y="978600"/>
            <a:ext cx="10251300" cy="16596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Clr>
                <a:schemeClr val="lt1"/>
              </a:buClr>
              <a:buSzPts val="10700"/>
              <a:buNone/>
              <a:defRPr sz="10700">
                <a:solidFill>
                  <a:schemeClr val="lt1"/>
                </a:solidFill>
              </a:defRPr>
            </a:lvl1pPr>
            <a:lvl2pPr lvl="1" algn="l">
              <a:lnSpc>
                <a:spcPct val="100000"/>
              </a:lnSpc>
              <a:spcBef>
                <a:spcPts val="0"/>
              </a:spcBef>
              <a:spcAft>
                <a:spcPts val="0"/>
              </a:spcAft>
              <a:buClr>
                <a:schemeClr val="lt1"/>
              </a:buClr>
              <a:buSzPts val="10700"/>
              <a:buNone/>
              <a:defRPr sz="10700">
                <a:solidFill>
                  <a:schemeClr val="lt1"/>
                </a:solidFill>
              </a:defRPr>
            </a:lvl2pPr>
            <a:lvl3pPr lvl="2" algn="l">
              <a:lnSpc>
                <a:spcPct val="100000"/>
              </a:lnSpc>
              <a:spcBef>
                <a:spcPts val="0"/>
              </a:spcBef>
              <a:spcAft>
                <a:spcPts val="0"/>
              </a:spcAft>
              <a:buClr>
                <a:schemeClr val="lt1"/>
              </a:buClr>
              <a:buSzPts val="10700"/>
              <a:buNone/>
              <a:defRPr sz="10700">
                <a:solidFill>
                  <a:schemeClr val="lt1"/>
                </a:solidFill>
              </a:defRPr>
            </a:lvl3pPr>
            <a:lvl4pPr lvl="3" algn="l">
              <a:lnSpc>
                <a:spcPct val="100000"/>
              </a:lnSpc>
              <a:spcBef>
                <a:spcPts val="0"/>
              </a:spcBef>
              <a:spcAft>
                <a:spcPts val="0"/>
              </a:spcAft>
              <a:buClr>
                <a:schemeClr val="lt1"/>
              </a:buClr>
              <a:buSzPts val="10700"/>
              <a:buNone/>
              <a:defRPr sz="10700">
                <a:solidFill>
                  <a:schemeClr val="lt1"/>
                </a:solidFill>
              </a:defRPr>
            </a:lvl4pPr>
            <a:lvl5pPr lvl="4" algn="l">
              <a:lnSpc>
                <a:spcPct val="100000"/>
              </a:lnSpc>
              <a:spcBef>
                <a:spcPts val="0"/>
              </a:spcBef>
              <a:spcAft>
                <a:spcPts val="0"/>
              </a:spcAft>
              <a:buClr>
                <a:schemeClr val="lt1"/>
              </a:buClr>
              <a:buSzPts val="10700"/>
              <a:buNone/>
              <a:defRPr sz="10700">
                <a:solidFill>
                  <a:schemeClr val="lt1"/>
                </a:solidFill>
              </a:defRPr>
            </a:lvl5pPr>
            <a:lvl6pPr lvl="5" algn="l">
              <a:lnSpc>
                <a:spcPct val="100000"/>
              </a:lnSpc>
              <a:spcBef>
                <a:spcPts val="0"/>
              </a:spcBef>
              <a:spcAft>
                <a:spcPts val="0"/>
              </a:spcAft>
              <a:buClr>
                <a:schemeClr val="lt1"/>
              </a:buClr>
              <a:buSzPts val="10700"/>
              <a:buNone/>
              <a:defRPr sz="10700">
                <a:solidFill>
                  <a:schemeClr val="lt1"/>
                </a:solidFill>
              </a:defRPr>
            </a:lvl6pPr>
            <a:lvl7pPr lvl="6" algn="l">
              <a:lnSpc>
                <a:spcPct val="100000"/>
              </a:lnSpc>
              <a:spcBef>
                <a:spcPts val="0"/>
              </a:spcBef>
              <a:spcAft>
                <a:spcPts val="0"/>
              </a:spcAft>
              <a:buClr>
                <a:schemeClr val="lt1"/>
              </a:buClr>
              <a:buSzPts val="10700"/>
              <a:buNone/>
              <a:defRPr sz="10700">
                <a:solidFill>
                  <a:schemeClr val="lt1"/>
                </a:solidFill>
              </a:defRPr>
            </a:lvl7pPr>
            <a:lvl8pPr lvl="7" algn="l">
              <a:lnSpc>
                <a:spcPct val="100000"/>
              </a:lnSpc>
              <a:spcBef>
                <a:spcPts val="0"/>
              </a:spcBef>
              <a:spcAft>
                <a:spcPts val="0"/>
              </a:spcAft>
              <a:buClr>
                <a:schemeClr val="lt1"/>
              </a:buClr>
              <a:buSzPts val="10700"/>
              <a:buNone/>
              <a:defRPr sz="10700">
                <a:solidFill>
                  <a:schemeClr val="lt1"/>
                </a:solidFill>
              </a:defRPr>
            </a:lvl8pPr>
            <a:lvl9pPr lvl="8" algn="l">
              <a:lnSpc>
                <a:spcPct val="100000"/>
              </a:lnSpc>
              <a:spcBef>
                <a:spcPts val="0"/>
              </a:spcBef>
              <a:spcAft>
                <a:spcPts val="0"/>
              </a:spcAft>
              <a:buClr>
                <a:schemeClr val="lt1"/>
              </a:buClr>
              <a:buSzPts val="10700"/>
              <a:buNone/>
              <a:defRPr sz="10700">
                <a:solidFill>
                  <a:schemeClr val="lt1"/>
                </a:solidFill>
              </a:defRPr>
            </a:lvl9pPr>
          </a:lstStyle>
          <a:p>
            <a:r>
              <a:t>xx%</a:t>
            </a:r>
          </a:p>
        </p:txBody>
      </p:sp>
      <p:sp>
        <p:nvSpPr>
          <p:cNvPr id="81" name="Google Shape;81;p12"/>
          <p:cNvSpPr txBox="1">
            <a:spLocks noGrp="1"/>
          </p:cNvSpPr>
          <p:nvPr>
            <p:ph type="body" idx="1"/>
          </p:nvPr>
        </p:nvSpPr>
        <p:spPr>
          <a:xfrm>
            <a:off x="972600" y="3030517"/>
            <a:ext cx="10251300" cy="21072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Clr>
                <a:schemeClr val="lt1"/>
              </a:buClr>
              <a:buSzPts val="1700"/>
              <a:buChar char="●"/>
              <a:defRPr>
                <a:solidFill>
                  <a:schemeClr val="lt1"/>
                </a:solidFill>
              </a:defRPr>
            </a:lvl1pPr>
            <a:lvl2pPr marL="914400" lvl="1" indent="-323850" algn="l">
              <a:lnSpc>
                <a:spcPct val="115000"/>
              </a:lnSpc>
              <a:spcBef>
                <a:spcPts val="0"/>
              </a:spcBef>
              <a:spcAft>
                <a:spcPts val="0"/>
              </a:spcAft>
              <a:buClr>
                <a:schemeClr val="lt1"/>
              </a:buClr>
              <a:buSzPts val="1500"/>
              <a:buChar char="○"/>
              <a:defRPr>
                <a:solidFill>
                  <a:schemeClr val="lt1"/>
                </a:solidFill>
              </a:defRPr>
            </a:lvl2pPr>
            <a:lvl3pPr marL="1371600" lvl="2" indent="-323850" algn="l">
              <a:lnSpc>
                <a:spcPct val="115000"/>
              </a:lnSpc>
              <a:spcBef>
                <a:spcPts val="0"/>
              </a:spcBef>
              <a:spcAft>
                <a:spcPts val="0"/>
              </a:spcAft>
              <a:buClr>
                <a:schemeClr val="lt1"/>
              </a:buClr>
              <a:buSzPts val="1500"/>
              <a:buChar char="■"/>
              <a:defRPr>
                <a:solidFill>
                  <a:schemeClr val="lt1"/>
                </a:solidFill>
              </a:defRPr>
            </a:lvl3pPr>
            <a:lvl4pPr marL="1828800" lvl="3" indent="-323850" algn="l">
              <a:lnSpc>
                <a:spcPct val="115000"/>
              </a:lnSpc>
              <a:spcBef>
                <a:spcPts val="0"/>
              </a:spcBef>
              <a:spcAft>
                <a:spcPts val="0"/>
              </a:spcAft>
              <a:buClr>
                <a:schemeClr val="lt1"/>
              </a:buClr>
              <a:buSzPts val="1500"/>
              <a:buChar char="●"/>
              <a:defRPr>
                <a:solidFill>
                  <a:schemeClr val="lt1"/>
                </a:solidFill>
              </a:defRPr>
            </a:lvl4pPr>
            <a:lvl5pPr marL="2286000" lvl="4" indent="-323850" algn="l">
              <a:lnSpc>
                <a:spcPct val="115000"/>
              </a:lnSpc>
              <a:spcBef>
                <a:spcPts val="0"/>
              </a:spcBef>
              <a:spcAft>
                <a:spcPts val="0"/>
              </a:spcAft>
              <a:buClr>
                <a:schemeClr val="lt1"/>
              </a:buClr>
              <a:buSzPts val="1500"/>
              <a:buChar char="○"/>
              <a:defRPr>
                <a:solidFill>
                  <a:schemeClr val="lt1"/>
                </a:solidFill>
              </a:defRPr>
            </a:lvl5pPr>
            <a:lvl6pPr marL="2743200" lvl="5" indent="-323850" algn="l">
              <a:lnSpc>
                <a:spcPct val="115000"/>
              </a:lnSpc>
              <a:spcBef>
                <a:spcPts val="0"/>
              </a:spcBef>
              <a:spcAft>
                <a:spcPts val="0"/>
              </a:spcAft>
              <a:buClr>
                <a:schemeClr val="lt1"/>
              </a:buClr>
              <a:buSzPts val="1500"/>
              <a:buChar char="■"/>
              <a:defRPr>
                <a:solidFill>
                  <a:schemeClr val="lt1"/>
                </a:solidFill>
              </a:defRPr>
            </a:lvl6pPr>
            <a:lvl7pPr marL="3200400" lvl="6" indent="-323850" algn="l">
              <a:lnSpc>
                <a:spcPct val="115000"/>
              </a:lnSpc>
              <a:spcBef>
                <a:spcPts val="0"/>
              </a:spcBef>
              <a:spcAft>
                <a:spcPts val="0"/>
              </a:spcAft>
              <a:buClr>
                <a:schemeClr val="lt1"/>
              </a:buClr>
              <a:buSzPts val="1500"/>
              <a:buChar char="●"/>
              <a:defRPr>
                <a:solidFill>
                  <a:schemeClr val="lt1"/>
                </a:solidFill>
              </a:defRPr>
            </a:lvl7pPr>
            <a:lvl8pPr marL="3657600" lvl="7" indent="-323850" algn="l">
              <a:lnSpc>
                <a:spcPct val="115000"/>
              </a:lnSpc>
              <a:spcBef>
                <a:spcPts val="0"/>
              </a:spcBef>
              <a:spcAft>
                <a:spcPts val="0"/>
              </a:spcAft>
              <a:buClr>
                <a:schemeClr val="lt1"/>
              </a:buClr>
              <a:buSzPts val="1500"/>
              <a:buChar char="○"/>
              <a:defRPr>
                <a:solidFill>
                  <a:schemeClr val="lt1"/>
                </a:solidFill>
              </a:defRPr>
            </a:lvl8pPr>
            <a:lvl9pPr marL="4114800" lvl="8" indent="-323850" algn="l">
              <a:lnSpc>
                <a:spcPct val="115000"/>
              </a:lnSpc>
              <a:spcBef>
                <a:spcPts val="0"/>
              </a:spcBef>
              <a:spcAft>
                <a:spcPts val="0"/>
              </a:spcAft>
              <a:buClr>
                <a:schemeClr val="lt1"/>
              </a:buClr>
              <a:buSzPts val="1500"/>
              <a:buChar char="■"/>
              <a:defRPr>
                <a:solidFill>
                  <a:schemeClr val="lt1"/>
                </a:solidFill>
              </a:defRPr>
            </a:lvl9pPr>
          </a:lstStyle>
          <a:p>
            <a:endParaRPr/>
          </a:p>
        </p:txBody>
      </p:sp>
      <p:sp>
        <p:nvSpPr>
          <p:cNvPr id="82" name="Google Shape;82;p12"/>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3"/>
        <p:cNvGrpSpPr/>
        <p:nvPr/>
      </p:nvGrpSpPr>
      <p:grpSpPr>
        <a:xfrm>
          <a:off x="0" y="0"/>
          <a:ext cx="0" cy="0"/>
          <a:chOff x="0" y="0"/>
          <a:chExt cx="0" cy="0"/>
        </a:xfrm>
      </p:grpSpPr>
      <p:sp>
        <p:nvSpPr>
          <p:cNvPr id="84" name="Google Shape;84;p13"/>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a:off x="415600" y="593367"/>
            <a:ext cx="11360700" cy="7635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3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88"/>
        <p:cNvGrpSpPr/>
        <p:nvPr/>
      </p:nvGrpSpPr>
      <p:grpSpPr>
        <a:xfrm>
          <a:off x="0" y="0"/>
          <a:ext cx="0" cy="0"/>
          <a:chOff x="0" y="0"/>
          <a:chExt cx="0" cy="0"/>
        </a:xfrm>
      </p:grpSpPr>
      <p:sp>
        <p:nvSpPr>
          <p:cNvPr id="89" name="Google Shape;89;p15"/>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90" name="Google Shape;90;p15"/>
          <p:cNvSpPr txBox="1">
            <a:spLocks noGrp="1"/>
          </p:cNvSpPr>
          <p:nvPr>
            <p:ph type="body" idx="1"/>
          </p:nvPr>
        </p:nvSpPr>
        <p:spPr>
          <a:xfrm>
            <a:off x="644233" y="3223333"/>
            <a:ext cx="3273900" cy="31647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SzPts val="2400"/>
              <a:buChar char="•"/>
              <a:defRPr/>
            </a:lvl1pPr>
            <a:lvl2pPr marL="914400" lvl="1" indent="-228600" algn="l">
              <a:lnSpc>
                <a:spcPct val="90000"/>
              </a:lnSpc>
              <a:spcBef>
                <a:spcPts val="500"/>
              </a:spcBef>
              <a:spcAft>
                <a:spcPts val="0"/>
              </a:spcAft>
              <a:buSzPts val="2000"/>
              <a:buNone/>
              <a:defRPr/>
            </a:lvl2pPr>
            <a:lvl3pPr marL="1371600" lvl="2" indent="-228600" algn="l">
              <a:lnSpc>
                <a:spcPct val="90000"/>
              </a:lnSpc>
              <a:spcBef>
                <a:spcPts val="500"/>
              </a:spcBef>
              <a:spcAft>
                <a:spcPts val="0"/>
              </a:spcAft>
              <a:buSzPts val="1600"/>
              <a:buNone/>
              <a:defRPr/>
            </a:lvl3pPr>
            <a:lvl4pPr marL="1828800" lvl="3" indent="-228600" algn="l">
              <a:lnSpc>
                <a:spcPct val="90000"/>
              </a:lnSpc>
              <a:spcBef>
                <a:spcPts val="500"/>
              </a:spcBef>
              <a:spcAft>
                <a:spcPts val="0"/>
              </a:spcAft>
              <a:buSzPts val="1200"/>
              <a:buNone/>
              <a:defRPr/>
            </a:lvl4pPr>
            <a:lvl5pPr marL="2286000" lvl="4" indent="-228600" algn="l">
              <a:lnSpc>
                <a:spcPct val="90000"/>
              </a:lnSpc>
              <a:spcBef>
                <a:spcPts val="500"/>
              </a:spcBef>
              <a:spcAft>
                <a:spcPts val="0"/>
              </a:spcAft>
              <a:buSzPts val="1000"/>
              <a:buNone/>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91" name="Google Shape;91;p15"/>
          <p:cNvSpPr txBox="1">
            <a:spLocks noGrp="1"/>
          </p:cNvSpPr>
          <p:nvPr>
            <p:ph type="body" idx="2"/>
          </p:nvPr>
        </p:nvSpPr>
        <p:spPr>
          <a:xfrm>
            <a:off x="4463633" y="3223333"/>
            <a:ext cx="3273900" cy="31647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SzPts val="2400"/>
              <a:buChar char="•"/>
              <a:defRPr/>
            </a:lvl1pPr>
            <a:lvl2pPr marL="914400" lvl="1" indent="-228600" algn="l">
              <a:lnSpc>
                <a:spcPct val="90000"/>
              </a:lnSpc>
              <a:spcBef>
                <a:spcPts val="500"/>
              </a:spcBef>
              <a:spcAft>
                <a:spcPts val="0"/>
              </a:spcAft>
              <a:buSzPts val="2000"/>
              <a:buNone/>
              <a:defRPr/>
            </a:lvl2pPr>
            <a:lvl3pPr marL="1371600" lvl="2" indent="-228600" algn="l">
              <a:lnSpc>
                <a:spcPct val="90000"/>
              </a:lnSpc>
              <a:spcBef>
                <a:spcPts val="500"/>
              </a:spcBef>
              <a:spcAft>
                <a:spcPts val="0"/>
              </a:spcAft>
              <a:buSzPts val="1600"/>
              <a:buNone/>
              <a:defRPr/>
            </a:lvl3pPr>
            <a:lvl4pPr marL="1828800" lvl="3" indent="-228600" algn="l">
              <a:lnSpc>
                <a:spcPct val="90000"/>
              </a:lnSpc>
              <a:spcBef>
                <a:spcPts val="500"/>
              </a:spcBef>
              <a:spcAft>
                <a:spcPts val="0"/>
              </a:spcAft>
              <a:buSzPts val="1200"/>
              <a:buNone/>
              <a:defRPr/>
            </a:lvl4pPr>
            <a:lvl5pPr marL="2286000" lvl="4" indent="-228600" algn="l">
              <a:lnSpc>
                <a:spcPct val="90000"/>
              </a:lnSpc>
              <a:spcBef>
                <a:spcPts val="500"/>
              </a:spcBef>
              <a:spcAft>
                <a:spcPts val="0"/>
              </a:spcAft>
              <a:buSzPts val="1000"/>
              <a:buNone/>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92" name="Google Shape;92;p15"/>
          <p:cNvSpPr txBox="1">
            <a:spLocks noGrp="1"/>
          </p:cNvSpPr>
          <p:nvPr>
            <p:ph type="body" idx="3"/>
          </p:nvPr>
        </p:nvSpPr>
        <p:spPr>
          <a:xfrm>
            <a:off x="8283033" y="3223333"/>
            <a:ext cx="3273900" cy="31647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SzPts val="2400"/>
              <a:buChar char="•"/>
              <a:defRPr/>
            </a:lvl1pPr>
            <a:lvl2pPr marL="914400" lvl="1" indent="-228600" algn="l">
              <a:lnSpc>
                <a:spcPct val="90000"/>
              </a:lnSpc>
              <a:spcBef>
                <a:spcPts val="500"/>
              </a:spcBef>
              <a:spcAft>
                <a:spcPts val="0"/>
              </a:spcAft>
              <a:buSzPts val="2000"/>
              <a:buNone/>
              <a:defRPr/>
            </a:lvl2pPr>
            <a:lvl3pPr marL="1371600" lvl="2" indent="-228600" algn="l">
              <a:lnSpc>
                <a:spcPct val="90000"/>
              </a:lnSpc>
              <a:spcBef>
                <a:spcPts val="500"/>
              </a:spcBef>
              <a:spcAft>
                <a:spcPts val="0"/>
              </a:spcAft>
              <a:buSzPts val="1600"/>
              <a:buNone/>
              <a:defRPr/>
            </a:lvl3pPr>
            <a:lvl4pPr marL="1828800" lvl="3" indent="-228600" algn="l">
              <a:lnSpc>
                <a:spcPct val="90000"/>
              </a:lnSpc>
              <a:spcBef>
                <a:spcPts val="500"/>
              </a:spcBef>
              <a:spcAft>
                <a:spcPts val="0"/>
              </a:spcAft>
              <a:buSzPts val="1200"/>
              <a:buNone/>
              <a:defRPr/>
            </a:lvl4pPr>
            <a:lvl5pPr marL="2286000" lvl="4" indent="-228600" algn="l">
              <a:lnSpc>
                <a:spcPct val="90000"/>
              </a:lnSpc>
              <a:spcBef>
                <a:spcPts val="500"/>
              </a:spcBef>
              <a:spcAft>
                <a:spcPts val="0"/>
              </a:spcAft>
              <a:buSzPts val="1000"/>
              <a:buNone/>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93" name="Google Shape;93;p15"/>
          <p:cNvSpPr txBox="1">
            <a:spLocks noGrp="1"/>
          </p:cNvSpPr>
          <p:nvPr>
            <p:ph type="title"/>
          </p:nvPr>
        </p:nvSpPr>
        <p:spPr>
          <a:xfrm>
            <a:off x="644233" y="600033"/>
            <a:ext cx="10912800" cy="1010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a:endParaRPr/>
          </a:p>
        </p:txBody>
      </p:sp>
      <p:sp>
        <p:nvSpPr>
          <p:cNvPr id="94" name="Google Shape;94;p15"/>
          <p:cNvSpPr txBox="1">
            <a:spLocks noGrp="1"/>
          </p:cNvSpPr>
          <p:nvPr>
            <p:ph type="subTitle" idx="4"/>
          </p:nvPr>
        </p:nvSpPr>
        <p:spPr>
          <a:xfrm>
            <a:off x="644233" y="1781533"/>
            <a:ext cx="3273900" cy="1038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SzPts val="2700"/>
              <a:buNone/>
              <a:defRPr sz="2700"/>
            </a:lvl1pPr>
            <a:lvl2pPr lvl="1" algn="l">
              <a:lnSpc>
                <a:spcPct val="90000"/>
              </a:lnSpc>
              <a:spcBef>
                <a:spcPts val="500"/>
              </a:spcBef>
              <a:spcAft>
                <a:spcPts val="0"/>
              </a:spcAft>
              <a:buSzPts val="2700"/>
              <a:buNone/>
              <a:defRPr sz="2700"/>
            </a:lvl2pPr>
            <a:lvl3pPr lvl="2" algn="l">
              <a:lnSpc>
                <a:spcPct val="90000"/>
              </a:lnSpc>
              <a:spcBef>
                <a:spcPts val="500"/>
              </a:spcBef>
              <a:spcAft>
                <a:spcPts val="0"/>
              </a:spcAft>
              <a:buSzPts val="2700"/>
              <a:buNone/>
              <a:defRPr sz="2700"/>
            </a:lvl3pPr>
            <a:lvl4pPr lvl="3" algn="l">
              <a:lnSpc>
                <a:spcPct val="90000"/>
              </a:lnSpc>
              <a:spcBef>
                <a:spcPts val="500"/>
              </a:spcBef>
              <a:spcAft>
                <a:spcPts val="0"/>
              </a:spcAft>
              <a:buSzPts val="2700"/>
              <a:buNone/>
              <a:defRPr sz="2700"/>
            </a:lvl4pPr>
            <a:lvl5pPr lvl="4" algn="l">
              <a:lnSpc>
                <a:spcPct val="90000"/>
              </a:lnSpc>
              <a:spcBef>
                <a:spcPts val="500"/>
              </a:spcBef>
              <a:spcAft>
                <a:spcPts val="0"/>
              </a:spcAft>
              <a:buSzPts val="2700"/>
              <a:buNone/>
              <a:defRPr sz="2700"/>
            </a:lvl5pPr>
            <a:lvl6pPr lvl="5" algn="l">
              <a:lnSpc>
                <a:spcPct val="90000"/>
              </a:lnSpc>
              <a:spcBef>
                <a:spcPts val="500"/>
              </a:spcBef>
              <a:spcAft>
                <a:spcPts val="0"/>
              </a:spcAft>
              <a:buSzPts val="2700"/>
              <a:buNone/>
              <a:defRPr sz="2700"/>
            </a:lvl6pPr>
            <a:lvl7pPr lvl="6" algn="l">
              <a:lnSpc>
                <a:spcPct val="90000"/>
              </a:lnSpc>
              <a:spcBef>
                <a:spcPts val="500"/>
              </a:spcBef>
              <a:spcAft>
                <a:spcPts val="0"/>
              </a:spcAft>
              <a:buSzPts val="2700"/>
              <a:buNone/>
              <a:defRPr sz="2700"/>
            </a:lvl7pPr>
            <a:lvl8pPr lvl="7" algn="l">
              <a:lnSpc>
                <a:spcPct val="90000"/>
              </a:lnSpc>
              <a:spcBef>
                <a:spcPts val="500"/>
              </a:spcBef>
              <a:spcAft>
                <a:spcPts val="0"/>
              </a:spcAft>
              <a:buSzPts val="2700"/>
              <a:buNone/>
              <a:defRPr sz="2700"/>
            </a:lvl8pPr>
            <a:lvl9pPr lvl="8" algn="l">
              <a:lnSpc>
                <a:spcPct val="90000"/>
              </a:lnSpc>
              <a:spcBef>
                <a:spcPts val="500"/>
              </a:spcBef>
              <a:spcAft>
                <a:spcPts val="0"/>
              </a:spcAft>
              <a:buSzPts val="2700"/>
              <a:buNone/>
              <a:defRPr sz="2700"/>
            </a:lvl9pPr>
          </a:lstStyle>
          <a:p>
            <a:endParaRPr/>
          </a:p>
        </p:txBody>
      </p:sp>
      <p:sp>
        <p:nvSpPr>
          <p:cNvPr id="95" name="Google Shape;95;p15"/>
          <p:cNvSpPr txBox="1">
            <a:spLocks noGrp="1"/>
          </p:cNvSpPr>
          <p:nvPr>
            <p:ph type="subTitle" idx="5"/>
          </p:nvPr>
        </p:nvSpPr>
        <p:spPr>
          <a:xfrm>
            <a:off x="4463633" y="1781533"/>
            <a:ext cx="3273900" cy="1038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SzPts val="2700"/>
              <a:buNone/>
              <a:defRPr sz="2700"/>
            </a:lvl1pPr>
            <a:lvl2pPr lvl="1" algn="l">
              <a:lnSpc>
                <a:spcPct val="90000"/>
              </a:lnSpc>
              <a:spcBef>
                <a:spcPts val="500"/>
              </a:spcBef>
              <a:spcAft>
                <a:spcPts val="0"/>
              </a:spcAft>
              <a:buSzPts val="2700"/>
              <a:buNone/>
              <a:defRPr sz="2700"/>
            </a:lvl2pPr>
            <a:lvl3pPr lvl="2" algn="l">
              <a:lnSpc>
                <a:spcPct val="90000"/>
              </a:lnSpc>
              <a:spcBef>
                <a:spcPts val="500"/>
              </a:spcBef>
              <a:spcAft>
                <a:spcPts val="0"/>
              </a:spcAft>
              <a:buSzPts val="2700"/>
              <a:buNone/>
              <a:defRPr sz="2700"/>
            </a:lvl3pPr>
            <a:lvl4pPr lvl="3" algn="l">
              <a:lnSpc>
                <a:spcPct val="90000"/>
              </a:lnSpc>
              <a:spcBef>
                <a:spcPts val="500"/>
              </a:spcBef>
              <a:spcAft>
                <a:spcPts val="0"/>
              </a:spcAft>
              <a:buSzPts val="2700"/>
              <a:buNone/>
              <a:defRPr sz="2700"/>
            </a:lvl4pPr>
            <a:lvl5pPr lvl="4" algn="l">
              <a:lnSpc>
                <a:spcPct val="90000"/>
              </a:lnSpc>
              <a:spcBef>
                <a:spcPts val="500"/>
              </a:spcBef>
              <a:spcAft>
                <a:spcPts val="0"/>
              </a:spcAft>
              <a:buSzPts val="2700"/>
              <a:buNone/>
              <a:defRPr sz="2700"/>
            </a:lvl5pPr>
            <a:lvl6pPr lvl="5" algn="l">
              <a:lnSpc>
                <a:spcPct val="90000"/>
              </a:lnSpc>
              <a:spcBef>
                <a:spcPts val="500"/>
              </a:spcBef>
              <a:spcAft>
                <a:spcPts val="0"/>
              </a:spcAft>
              <a:buSzPts val="2700"/>
              <a:buNone/>
              <a:defRPr sz="2700"/>
            </a:lvl6pPr>
            <a:lvl7pPr lvl="6" algn="l">
              <a:lnSpc>
                <a:spcPct val="90000"/>
              </a:lnSpc>
              <a:spcBef>
                <a:spcPts val="500"/>
              </a:spcBef>
              <a:spcAft>
                <a:spcPts val="0"/>
              </a:spcAft>
              <a:buSzPts val="2700"/>
              <a:buNone/>
              <a:defRPr sz="2700"/>
            </a:lvl7pPr>
            <a:lvl8pPr lvl="7" algn="l">
              <a:lnSpc>
                <a:spcPct val="90000"/>
              </a:lnSpc>
              <a:spcBef>
                <a:spcPts val="500"/>
              </a:spcBef>
              <a:spcAft>
                <a:spcPts val="0"/>
              </a:spcAft>
              <a:buSzPts val="2700"/>
              <a:buNone/>
              <a:defRPr sz="2700"/>
            </a:lvl8pPr>
            <a:lvl9pPr lvl="8" algn="l">
              <a:lnSpc>
                <a:spcPct val="90000"/>
              </a:lnSpc>
              <a:spcBef>
                <a:spcPts val="500"/>
              </a:spcBef>
              <a:spcAft>
                <a:spcPts val="0"/>
              </a:spcAft>
              <a:buSzPts val="2700"/>
              <a:buNone/>
              <a:defRPr sz="2700"/>
            </a:lvl9pPr>
          </a:lstStyle>
          <a:p>
            <a:endParaRPr/>
          </a:p>
        </p:txBody>
      </p:sp>
      <p:sp>
        <p:nvSpPr>
          <p:cNvPr id="96" name="Google Shape;96;p15"/>
          <p:cNvSpPr txBox="1">
            <a:spLocks noGrp="1"/>
          </p:cNvSpPr>
          <p:nvPr>
            <p:ph type="subTitle" idx="6"/>
          </p:nvPr>
        </p:nvSpPr>
        <p:spPr>
          <a:xfrm>
            <a:off x="8283033" y="1781533"/>
            <a:ext cx="3273900" cy="1038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SzPts val="2700"/>
              <a:buNone/>
              <a:defRPr sz="2700"/>
            </a:lvl1pPr>
            <a:lvl2pPr lvl="1" algn="l">
              <a:lnSpc>
                <a:spcPct val="90000"/>
              </a:lnSpc>
              <a:spcBef>
                <a:spcPts val="500"/>
              </a:spcBef>
              <a:spcAft>
                <a:spcPts val="0"/>
              </a:spcAft>
              <a:buSzPts val="2700"/>
              <a:buNone/>
              <a:defRPr sz="2700"/>
            </a:lvl2pPr>
            <a:lvl3pPr lvl="2" algn="l">
              <a:lnSpc>
                <a:spcPct val="90000"/>
              </a:lnSpc>
              <a:spcBef>
                <a:spcPts val="500"/>
              </a:spcBef>
              <a:spcAft>
                <a:spcPts val="0"/>
              </a:spcAft>
              <a:buSzPts val="2700"/>
              <a:buNone/>
              <a:defRPr sz="2700"/>
            </a:lvl3pPr>
            <a:lvl4pPr lvl="3" algn="l">
              <a:lnSpc>
                <a:spcPct val="90000"/>
              </a:lnSpc>
              <a:spcBef>
                <a:spcPts val="500"/>
              </a:spcBef>
              <a:spcAft>
                <a:spcPts val="0"/>
              </a:spcAft>
              <a:buSzPts val="2700"/>
              <a:buNone/>
              <a:defRPr sz="2700"/>
            </a:lvl4pPr>
            <a:lvl5pPr lvl="4" algn="l">
              <a:lnSpc>
                <a:spcPct val="90000"/>
              </a:lnSpc>
              <a:spcBef>
                <a:spcPts val="500"/>
              </a:spcBef>
              <a:spcAft>
                <a:spcPts val="0"/>
              </a:spcAft>
              <a:buSzPts val="2700"/>
              <a:buNone/>
              <a:defRPr sz="2700"/>
            </a:lvl5pPr>
            <a:lvl6pPr lvl="5" algn="l">
              <a:lnSpc>
                <a:spcPct val="90000"/>
              </a:lnSpc>
              <a:spcBef>
                <a:spcPts val="500"/>
              </a:spcBef>
              <a:spcAft>
                <a:spcPts val="0"/>
              </a:spcAft>
              <a:buSzPts val="2700"/>
              <a:buNone/>
              <a:defRPr sz="2700"/>
            </a:lvl6pPr>
            <a:lvl7pPr lvl="6" algn="l">
              <a:lnSpc>
                <a:spcPct val="90000"/>
              </a:lnSpc>
              <a:spcBef>
                <a:spcPts val="500"/>
              </a:spcBef>
              <a:spcAft>
                <a:spcPts val="0"/>
              </a:spcAft>
              <a:buSzPts val="2700"/>
              <a:buNone/>
              <a:defRPr sz="2700"/>
            </a:lvl7pPr>
            <a:lvl8pPr lvl="7" algn="l">
              <a:lnSpc>
                <a:spcPct val="90000"/>
              </a:lnSpc>
              <a:spcBef>
                <a:spcPts val="500"/>
              </a:spcBef>
              <a:spcAft>
                <a:spcPts val="0"/>
              </a:spcAft>
              <a:buSzPts val="2700"/>
              <a:buNone/>
              <a:defRPr sz="2700"/>
            </a:lvl8pPr>
            <a:lvl9pPr lvl="8" algn="l">
              <a:lnSpc>
                <a:spcPct val="90000"/>
              </a:lnSpc>
              <a:spcBef>
                <a:spcPts val="500"/>
              </a:spcBef>
              <a:spcAft>
                <a:spcPts val="0"/>
              </a:spcAft>
              <a:buSzPts val="2700"/>
              <a:buNone/>
              <a:defRPr sz="27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a:off x="415600" y="593367"/>
            <a:ext cx="11360700" cy="7635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3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16"/>
          <p:cNvSpPr txBox="1">
            <a:spLocks noGrp="1"/>
          </p:cNvSpPr>
          <p:nvPr>
            <p:ph type="body" idx="1"/>
          </p:nvPr>
        </p:nvSpPr>
        <p:spPr>
          <a:xfrm>
            <a:off x="415600" y="1536633"/>
            <a:ext cx="5333100" cy="4555200"/>
          </a:xfrm>
          <a:prstGeom prst="rect">
            <a:avLst/>
          </a:prstGeom>
          <a:noFill/>
          <a:ln>
            <a:noFill/>
          </a:ln>
        </p:spPr>
        <p:txBody>
          <a:bodyPr spcFirstLastPara="1" wrap="square" lIns="91425" tIns="45700" rIns="91425" bIns="45700" anchor="t" anchorCtr="0">
            <a:normAutofit/>
          </a:bodyPr>
          <a:lstStyle>
            <a:lvl1pPr marL="457200" lvl="0" indent="-349250" algn="l">
              <a:lnSpc>
                <a:spcPct val="90000"/>
              </a:lnSpc>
              <a:spcBef>
                <a:spcPts val="1000"/>
              </a:spcBef>
              <a:spcAft>
                <a:spcPts val="0"/>
              </a:spcAft>
              <a:buSzPts val="1900"/>
              <a:buChar char="•"/>
              <a:defRPr sz="1900"/>
            </a:lvl1pPr>
            <a:lvl2pPr marL="914400" lvl="1" indent="-228600" algn="l">
              <a:lnSpc>
                <a:spcPct val="90000"/>
              </a:lnSpc>
              <a:spcBef>
                <a:spcPts val="500"/>
              </a:spcBef>
              <a:spcAft>
                <a:spcPts val="0"/>
              </a:spcAft>
              <a:buSzPts val="1600"/>
              <a:buNone/>
              <a:defRPr/>
            </a:lvl2pPr>
            <a:lvl3pPr marL="1371600" lvl="2" indent="-228600" algn="l">
              <a:lnSpc>
                <a:spcPct val="90000"/>
              </a:lnSpc>
              <a:spcBef>
                <a:spcPts val="500"/>
              </a:spcBef>
              <a:spcAft>
                <a:spcPts val="0"/>
              </a:spcAft>
              <a:buSzPts val="1600"/>
              <a:buNone/>
              <a:defRPr/>
            </a:lvl3pPr>
            <a:lvl4pPr marL="1828800" lvl="3" indent="-228600" algn="l">
              <a:lnSpc>
                <a:spcPct val="90000"/>
              </a:lnSpc>
              <a:spcBef>
                <a:spcPts val="500"/>
              </a:spcBef>
              <a:spcAft>
                <a:spcPts val="0"/>
              </a:spcAft>
              <a:buSzPts val="1600"/>
              <a:buNone/>
              <a:defRPr/>
            </a:lvl4pPr>
            <a:lvl5pPr marL="2286000" lvl="4" indent="-228600" algn="l">
              <a:lnSpc>
                <a:spcPct val="90000"/>
              </a:lnSpc>
              <a:spcBef>
                <a:spcPts val="500"/>
              </a:spcBef>
              <a:spcAft>
                <a:spcPts val="0"/>
              </a:spcAft>
              <a:buSzPts val="1600"/>
              <a:buNone/>
              <a:defRPr/>
            </a:lvl5pPr>
            <a:lvl6pPr marL="2743200" lvl="5" indent="-330200" algn="l">
              <a:lnSpc>
                <a:spcPct val="90000"/>
              </a:lnSpc>
              <a:spcBef>
                <a:spcPts val="500"/>
              </a:spcBef>
              <a:spcAft>
                <a:spcPts val="0"/>
              </a:spcAft>
              <a:buSzPts val="1600"/>
              <a:buChar char="•"/>
              <a:defRPr/>
            </a:lvl6pPr>
            <a:lvl7pPr marL="3200400" lvl="6" indent="-330200" algn="l">
              <a:lnSpc>
                <a:spcPct val="90000"/>
              </a:lnSpc>
              <a:spcBef>
                <a:spcPts val="500"/>
              </a:spcBef>
              <a:spcAft>
                <a:spcPts val="0"/>
              </a:spcAft>
              <a:buSzPts val="1600"/>
              <a:buChar char="•"/>
              <a:defRPr/>
            </a:lvl7pPr>
            <a:lvl8pPr marL="3657600" lvl="7" indent="-330200" algn="l">
              <a:lnSpc>
                <a:spcPct val="90000"/>
              </a:lnSpc>
              <a:spcBef>
                <a:spcPts val="500"/>
              </a:spcBef>
              <a:spcAft>
                <a:spcPts val="0"/>
              </a:spcAft>
              <a:buSzPts val="1600"/>
              <a:buChar char="•"/>
              <a:defRPr/>
            </a:lvl8pPr>
            <a:lvl9pPr marL="4114800" lvl="8" indent="-330200" algn="l">
              <a:lnSpc>
                <a:spcPct val="90000"/>
              </a:lnSpc>
              <a:spcBef>
                <a:spcPts val="500"/>
              </a:spcBef>
              <a:spcAft>
                <a:spcPts val="0"/>
              </a:spcAft>
              <a:buSzPts val="1600"/>
              <a:buChar char="•"/>
              <a:defRPr/>
            </a:lvl9pPr>
          </a:lstStyle>
          <a:p>
            <a:endParaRPr/>
          </a:p>
        </p:txBody>
      </p:sp>
      <p:sp>
        <p:nvSpPr>
          <p:cNvPr id="100" name="Google Shape;100;p16"/>
          <p:cNvSpPr txBox="1">
            <a:spLocks noGrp="1"/>
          </p:cNvSpPr>
          <p:nvPr>
            <p:ph type="body" idx="2"/>
          </p:nvPr>
        </p:nvSpPr>
        <p:spPr>
          <a:xfrm>
            <a:off x="6443200" y="1536633"/>
            <a:ext cx="5333100" cy="4555200"/>
          </a:xfrm>
          <a:prstGeom prst="rect">
            <a:avLst/>
          </a:prstGeom>
          <a:noFill/>
          <a:ln>
            <a:noFill/>
          </a:ln>
        </p:spPr>
        <p:txBody>
          <a:bodyPr spcFirstLastPara="1" wrap="square" lIns="91425" tIns="45700" rIns="91425" bIns="45700" anchor="t" anchorCtr="0">
            <a:normAutofit/>
          </a:bodyPr>
          <a:lstStyle>
            <a:lvl1pPr marL="457200" lvl="0" indent="-349250" algn="l">
              <a:lnSpc>
                <a:spcPct val="90000"/>
              </a:lnSpc>
              <a:spcBef>
                <a:spcPts val="1000"/>
              </a:spcBef>
              <a:spcAft>
                <a:spcPts val="0"/>
              </a:spcAft>
              <a:buSzPts val="1900"/>
              <a:buChar char="•"/>
              <a:defRPr sz="1900"/>
            </a:lvl1pPr>
            <a:lvl2pPr marL="914400" lvl="1" indent="-228600" algn="l">
              <a:lnSpc>
                <a:spcPct val="90000"/>
              </a:lnSpc>
              <a:spcBef>
                <a:spcPts val="500"/>
              </a:spcBef>
              <a:spcAft>
                <a:spcPts val="0"/>
              </a:spcAft>
              <a:buSzPts val="1600"/>
              <a:buNone/>
              <a:defRPr/>
            </a:lvl2pPr>
            <a:lvl3pPr marL="1371600" lvl="2" indent="-228600" algn="l">
              <a:lnSpc>
                <a:spcPct val="90000"/>
              </a:lnSpc>
              <a:spcBef>
                <a:spcPts val="500"/>
              </a:spcBef>
              <a:spcAft>
                <a:spcPts val="0"/>
              </a:spcAft>
              <a:buSzPts val="1600"/>
              <a:buNone/>
              <a:defRPr/>
            </a:lvl3pPr>
            <a:lvl4pPr marL="1828800" lvl="3" indent="-228600" algn="l">
              <a:lnSpc>
                <a:spcPct val="90000"/>
              </a:lnSpc>
              <a:spcBef>
                <a:spcPts val="500"/>
              </a:spcBef>
              <a:spcAft>
                <a:spcPts val="0"/>
              </a:spcAft>
              <a:buSzPts val="1600"/>
              <a:buNone/>
              <a:defRPr/>
            </a:lvl4pPr>
            <a:lvl5pPr marL="2286000" lvl="4" indent="-228600" algn="l">
              <a:lnSpc>
                <a:spcPct val="90000"/>
              </a:lnSpc>
              <a:spcBef>
                <a:spcPts val="500"/>
              </a:spcBef>
              <a:spcAft>
                <a:spcPts val="0"/>
              </a:spcAft>
              <a:buSzPts val="1600"/>
              <a:buNone/>
              <a:defRPr/>
            </a:lvl5pPr>
            <a:lvl6pPr marL="2743200" lvl="5" indent="-330200" algn="l">
              <a:lnSpc>
                <a:spcPct val="90000"/>
              </a:lnSpc>
              <a:spcBef>
                <a:spcPts val="500"/>
              </a:spcBef>
              <a:spcAft>
                <a:spcPts val="0"/>
              </a:spcAft>
              <a:buSzPts val="1600"/>
              <a:buChar char="•"/>
              <a:defRPr/>
            </a:lvl6pPr>
            <a:lvl7pPr marL="3200400" lvl="6" indent="-330200" algn="l">
              <a:lnSpc>
                <a:spcPct val="90000"/>
              </a:lnSpc>
              <a:spcBef>
                <a:spcPts val="500"/>
              </a:spcBef>
              <a:spcAft>
                <a:spcPts val="0"/>
              </a:spcAft>
              <a:buSzPts val="1600"/>
              <a:buChar char="•"/>
              <a:defRPr/>
            </a:lvl7pPr>
            <a:lvl8pPr marL="3657600" lvl="7" indent="-330200" algn="l">
              <a:lnSpc>
                <a:spcPct val="90000"/>
              </a:lnSpc>
              <a:spcBef>
                <a:spcPts val="500"/>
              </a:spcBef>
              <a:spcAft>
                <a:spcPts val="0"/>
              </a:spcAft>
              <a:buSzPts val="1600"/>
              <a:buChar char="•"/>
              <a:defRPr/>
            </a:lvl8pPr>
            <a:lvl9pPr marL="4114800" lvl="8" indent="-330200" algn="l">
              <a:lnSpc>
                <a:spcPct val="90000"/>
              </a:lnSpc>
              <a:spcBef>
                <a:spcPts val="500"/>
              </a:spcBef>
              <a:spcAft>
                <a:spcPts val="0"/>
              </a:spcAft>
              <a:buSzPts val="1600"/>
              <a:buChar char="•"/>
              <a:defRPr/>
            </a:lvl9pPr>
          </a:lstStyle>
          <a:p>
            <a:endParaRPr/>
          </a:p>
        </p:txBody>
      </p:sp>
      <p:sp>
        <p:nvSpPr>
          <p:cNvPr id="101" name="Google Shape;101;p1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36550" algn="l" rtl="0">
              <a:lnSpc>
                <a:spcPct val="115000"/>
              </a:lnSpc>
              <a:spcBef>
                <a:spcPts val="0"/>
              </a:spcBef>
              <a:spcAft>
                <a:spcPts val="0"/>
              </a:spcAft>
              <a:buClr>
                <a:schemeClr val="accent1"/>
              </a:buClr>
              <a:buSzPts val="1700"/>
              <a:buFont typeface="Lato"/>
              <a:buChar char="●"/>
              <a:defRPr sz="1700" b="0" i="0" u="none" strike="noStrike" cap="none">
                <a:solidFill>
                  <a:schemeClr val="accent1"/>
                </a:solidFill>
                <a:latin typeface="Lato"/>
                <a:ea typeface="Lato"/>
                <a:cs typeface="Lato"/>
                <a:sym typeface="Lato"/>
              </a:defRPr>
            </a:lvl1pPr>
            <a:lvl2pPr marL="914400" marR="0" lvl="1"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2pPr>
            <a:lvl3pPr marL="1371600" marR="0" lvl="2"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3pPr>
            <a:lvl4pPr marL="1828800" marR="0" lvl="3"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4pPr>
            <a:lvl5pPr marL="2286000" marR="0" lvl="4"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5pPr>
            <a:lvl6pPr marL="2743200" marR="0" lvl="5"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6pPr>
            <a:lvl7pPr marL="3200400" marR="0" lvl="6"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7pPr>
            <a:lvl8pPr marL="3657600" marR="0" lvl="7"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8pPr>
            <a:lvl9pPr marL="4114800" marR="0" lvl="8"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7"/>
          <p:cNvSpPr txBox="1">
            <a:spLocks noGrp="1"/>
          </p:cNvSpPr>
          <p:nvPr>
            <p:ph type="ctrTitle"/>
          </p:nvPr>
        </p:nvSpPr>
        <p:spPr>
          <a:xfrm>
            <a:off x="1772652" y="1731902"/>
            <a:ext cx="9144000" cy="1404600"/>
          </a:xfrm>
          <a:prstGeom prst="rect">
            <a:avLst/>
          </a:prstGeom>
          <a:noFill/>
          <a:ln>
            <a:noFill/>
          </a:ln>
        </p:spPr>
        <p:txBody>
          <a:bodyPr spcFirstLastPara="1" wrap="square" lIns="91425" tIns="45700" rIns="91425" bIns="45700" anchor="b" anchorCtr="0">
            <a:noAutofit/>
          </a:bodyPr>
          <a:lstStyle/>
          <a:p>
            <a:pPr algn="ctr"/>
            <a:r>
              <a:rPr lang="en-US" sz="3200" dirty="0"/>
              <a:t>Traffic Sign Recognition on GTSRB:</a:t>
            </a:r>
            <a:br>
              <a:rPr lang="en-US" sz="3200" dirty="0"/>
            </a:br>
            <a:r>
              <a:rPr lang="en-US" sz="3200" dirty="0"/>
              <a:t>From Custom CNNs to ResNet-18 Transfer Learning</a:t>
            </a:r>
          </a:p>
        </p:txBody>
      </p:sp>
      <p:sp>
        <p:nvSpPr>
          <p:cNvPr id="107" name="Google Shape;107;p17"/>
          <p:cNvSpPr txBox="1">
            <a:spLocks noGrp="1"/>
          </p:cNvSpPr>
          <p:nvPr>
            <p:ph type="subTitle" idx="1"/>
          </p:nvPr>
        </p:nvSpPr>
        <p:spPr>
          <a:xfrm>
            <a:off x="1524000" y="4303483"/>
            <a:ext cx="9144000" cy="13230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1000"/>
              </a:spcBef>
              <a:spcAft>
                <a:spcPts val="0"/>
              </a:spcAft>
              <a:buClr>
                <a:schemeClr val="lt1"/>
              </a:buClr>
              <a:buSzPts val="2400"/>
              <a:buFont typeface="Arial"/>
              <a:buNone/>
            </a:pPr>
            <a:endParaRPr dirty="0"/>
          </a:p>
          <a:p>
            <a:pPr marL="0" lvl="0" indent="0" algn="ctr">
              <a:lnSpc>
                <a:spcPct val="90000"/>
              </a:lnSpc>
              <a:spcBef>
                <a:spcPts val="1000"/>
              </a:spcBef>
              <a:buClr>
                <a:schemeClr val="lt1"/>
              </a:buClr>
              <a:buSzPts val="2400"/>
            </a:pPr>
            <a:r>
              <a:rPr lang="en-US" sz="1800" dirty="0"/>
              <a:t>Presented by:</a:t>
            </a:r>
            <a:br>
              <a:rPr lang="en-US" sz="1800" dirty="0"/>
            </a:br>
            <a:r>
              <a:rPr lang="en-US" sz="1800" dirty="0"/>
              <a:t>Pavan Kumar Satram</a:t>
            </a:r>
            <a:endParaRPr sz="1700" dirty="0"/>
          </a:p>
        </p:txBody>
      </p:sp>
      <p:sp>
        <p:nvSpPr>
          <p:cNvPr id="2" name="TextBox 1">
            <a:extLst>
              <a:ext uri="{FF2B5EF4-FFF2-40B4-BE49-F238E27FC236}">
                <a16:creationId xmlns:a16="http://schemas.microsoft.com/office/drawing/2014/main" id="{9B8FB238-F797-37D5-ECA5-E26AF5C9A169}"/>
              </a:ext>
            </a:extLst>
          </p:cNvPr>
          <p:cNvSpPr txBox="1"/>
          <p:nvPr/>
        </p:nvSpPr>
        <p:spPr>
          <a:xfrm>
            <a:off x="3576707" y="3500468"/>
            <a:ext cx="5535890" cy="923330"/>
          </a:xfrm>
          <a:prstGeom prst="rect">
            <a:avLst/>
          </a:prstGeom>
          <a:noFill/>
        </p:spPr>
        <p:txBody>
          <a:bodyPr wrap="square" rtlCol="0">
            <a:spAutoFit/>
          </a:bodyPr>
          <a:lstStyle/>
          <a:p>
            <a:r>
              <a:rPr lang="en-US" sz="1800" b="1" dirty="0">
                <a:latin typeface="Raleway" panose="020F0502020204030204" pitchFamily="2" charset="0"/>
              </a:rPr>
              <a:t>CIS 678 – Machine Learning Project Extension</a:t>
            </a:r>
            <a:br>
              <a:rPr lang="en-US" sz="1800" dirty="0">
                <a:latin typeface="Raleway" panose="020F0502020204030204" pitchFamily="2" charset="0"/>
              </a:rPr>
            </a:br>
            <a:r>
              <a:rPr lang="en-US" sz="1800" b="1" dirty="0">
                <a:latin typeface="Raleway" panose="020F0502020204030204" pitchFamily="2" charset="0"/>
              </a:rPr>
              <a:t>Baseline, CNNs, and ResNet-18 with Explainable Deep Learning</a:t>
            </a:r>
            <a:endParaRPr lang="en-IN" sz="1800" dirty="0">
              <a:latin typeface="Raleway" panose="020F0502020204030204"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8"/>
          <p:cNvSpPr txBox="1">
            <a:spLocks noGrp="1"/>
          </p:cNvSpPr>
          <p:nvPr>
            <p:ph type="title"/>
          </p:nvPr>
        </p:nvSpPr>
        <p:spPr>
          <a:xfrm>
            <a:off x="972423" y="1810301"/>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90000"/>
              </a:lnSpc>
              <a:spcBef>
                <a:spcPts val="0"/>
              </a:spcBef>
              <a:spcAft>
                <a:spcPts val="0"/>
              </a:spcAft>
              <a:buClr>
                <a:srgbClr val="000000"/>
              </a:buClr>
              <a:buSzPct val="86486"/>
              <a:buFont typeface="Arial"/>
              <a:buNone/>
            </a:pPr>
            <a:r>
              <a:rPr lang="en-US" sz="3700" dirty="0"/>
              <a:t>Overview of the problem/project</a:t>
            </a:r>
            <a:endParaRPr sz="3700" dirty="0"/>
          </a:p>
          <a:p>
            <a:pPr marL="0" lvl="0" indent="0" algn="l" rtl="0">
              <a:lnSpc>
                <a:spcPct val="90000"/>
              </a:lnSpc>
              <a:spcBef>
                <a:spcPts val="1000"/>
              </a:spcBef>
              <a:spcAft>
                <a:spcPts val="0"/>
              </a:spcAft>
              <a:buSzPct val="194444"/>
              <a:buNone/>
            </a:pPr>
            <a:endParaRPr sz="2000" b="0" dirty="0">
              <a:solidFill>
                <a:schemeClr val="accent1"/>
              </a:solidFill>
              <a:latin typeface="Lato"/>
              <a:ea typeface="Lato"/>
              <a:cs typeface="Lato"/>
              <a:sym typeface="Lato"/>
            </a:endParaRPr>
          </a:p>
        </p:txBody>
      </p:sp>
      <p:sp>
        <p:nvSpPr>
          <p:cNvPr id="113" name="Google Shape;113;p18"/>
          <p:cNvSpPr txBox="1">
            <a:spLocks noGrp="1"/>
          </p:cNvSpPr>
          <p:nvPr>
            <p:ph type="body" idx="1"/>
          </p:nvPr>
        </p:nvSpPr>
        <p:spPr>
          <a:xfrm>
            <a:off x="972423" y="2524001"/>
            <a:ext cx="5032500" cy="3724200"/>
          </a:xfrm>
          <a:prstGeom prst="rect">
            <a:avLst/>
          </a:prstGeom>
          <a:noFill/>
          <a:ln>
            <a:noFill/>
          </a:ln>
        </p:spPr>
        <p:txBody>
          <a:bodyPr spcFirstLastPara="1" wrap="square" lIns="121900" tIns="121900" rIns="121900" bIns="121900" anchor="t" anchorCtr="0">
            <a:normAutofit fontScale="85000" lnSpcReduction="20000"/>
          </a:bodyPr>
          <a:lstStyle/>
          <a:p>
            <a:pPr marL="0" lvl="0" indent="0">
              <a:buSzPct val="85000"/>
              <a:buNone/>
            </a:pPr>
            <a:r>
              <a:rPr lang="en-US" sz="2000" b="1" dirty="0"/>
              <a:t>General information/idea</a:t>
            </a:r>
          </a:p>
          <a:p>
            <a:pPr marL="0" lvl="0" indent="0">
              <a:buSzPct val="85000"/>
              <a:buNone/>
            </a:pPr>
            <a:br>
              <a:rPr lang="en-US" sz="2000" dirty="0"/>
            </a:br>
            <a:r>
              <a:rPr lang="en-US" sz="2000" dirty="0"/>
              <a:t>This project explores the task of automatically recognizing traffic signs using machine learning and deep learning techniques. Traffic sign recognition is a critical component of modern driver-assistance systems and autonomous vehicles, where accurate interpretation of signs supports safe navigation and decision making. Using the GTSRB dataset—thousands of real-world images across 43 classes—we first build baseline and custom CNN models, then extend the work with a ResNet-18 transfer-learning model and explainability tools such as Grad-CAM.</a:t>
            </a:r>
            <a:endParaRPr sz="2000" dirty="0"/>
          </a:p>
        </p:txBody>
      </p:sp>
      <p:sp>
        <p:nvSpPr>
          <p:cNvPr id="114" name="Google Shape;114;p18"/>
          <p:cNvSpPr txBox="1">
            <a:spLocks noGrp="1"/>
          </p:cNvSpPr>
          <p:nvPr>
            <p:ph type="body" idx="2"/>
          </p:nvPr>
        </p:nvSpPr>
        <p:spPr>
          <a:xfrm>
            <a:off x="6187079" y="2367591"/>
            <a:ext cx="5032500" cy="3724200"/>
          </a:xfrm>
          <a:prstGeom prst="rect">
            <a:avLst/>
          </a:prstGeom>
          <a:noFill/>
          <a:ln>
            <a:noFill/>
          </a:ln>
        </p:spPr>
        <p:txBody>
          <a:bodyPr spcFirstLastPara="1" wrap="square" lIns="121900" tIns="121900" rIns="121900" bIns="121900" anchor="t" anchorCtr="0">
            <a:noAutofit/>
          </a:bodyPr>
          <a:lstStyle/>
          <a:p>
            <a:pPr marL="0" lvl="0" indent="0">
              <a:lnSpc>
                <a:spcPct val="90000"/>
              </a:lnSpc>
              <a:spcBef>
                <a:spcPts val="1000"/>
              </a:spcBef>
              <a:buNone/>
            </a:pPr>
            <a:r>
              <a:rPr lang="en-US" b="1" dirty="0"/>
              <a:t>Problem definition</a:t>
            </a:r>
          </a:p>
          <a:p>
            <a:pPr marL="0" lvl="0" indent="0">
              <a:lnSpc>
                <a:spcPct val="90000"/>
              </a:lnSpc>
              <a:spcBef>
                <a:spcPts val="1000"/>
              </a:spcBef>
              <a:buNone/>
            </a:pPr>
            <a:br>
              <a:rPr lang="en-US" dirty="0"/>
            </a:br>
            <a:r>
              <a:rPr lang="en-US" dirty="0"/>
              <a:t>The primary goal of this project is to develop and compare multiple models capable of classifying traffic sign images, ranging from a classical baseline to custom CNNs and a pretrained ResNet-18. The project examines how architecture choices, regularization, and transfer learning affect performance, overfitting, and generalization on GTSRB. Beyond achieving high accuracy, the extension also focuses on understanding model behavior through misclassification analysis and visual explanations of where the network “looks” when making predictions.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9"/>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90000"/>
              </a:lnSpc>
              <a:spcBef>
                <a:spcPts val="0"/>
              </a:spcBef>
              <a:spcAft>
                <a:spcPts val="0"/>
              </a:spcAft>
              <a:buSzPct val="105105"/>
              <a:buNone/>
            </a:pPr>
            <a:r>
              <a:rPr lang="en-US" sz="3700" dirty="0"/>
              <a:t>Model input-output [1/2 slides]</a:t>
            </a:r>
            <a:endParaRPr sz="3700" dirty="0"/>
          </a:p>
          <a:p>
            <a:pPr marL="0" lvl="0" indent="0" algn="l" rtl="0">
              <a:lnSpc>
                <a:spcPct val="90000"/>
              </a:lnSpc>
              <a:spcBef>
                <a:spcPts val="1000"/>
              </a:spcBef>
              <a:spcAft>
                <a:spcPts val="0"/>
              </a:spcAft>
              <a:buSzPct val="194444"/>
              <a:buNone/>
            </a:pPr>
            <a:endParaRPr sz="2000" b="0" dirty="0">
              <a:solidFill>
                <a:schemeClr val="accent1"/>
              </a:solidFill>
              <a:latin typeface="Lato"/>
              <a:ea typeface="Lato"/>
              <a:cs typeface="Lato"/>
              <a:sym typeface="Lato"/>
            </a:endParaRPr>
          </a:p>
        </p:txBody>
      </p:sp>
      <p:sp>
        <p:nvSpPr>
          <p:cNvPr id="120" name="Google Shape;120;p19"/>
          <p:cNvSpPr txBox="1">
            <a:spLocks noGrp="1"/>
          </p:cNvSpPr>
          <p:nvPr>
            <p:ph type="body" idx="1"/>
          </p:nvPr>
        </p:nvSpPr>
        <p:spPr>
          <a:xfrm>
            <a:off x="972600" y="2639475"/>
            <a:ext cx="5032500" cy="3781500"/>
          </a:xfrm>
          <a:prstGeom prst="rect">
            <a:avLst/>
          </a:prstGeom>
          <a:noFill/>
          <a:ln>
            <a:noFill/>
          </a:ln>
        </p:spPr>
        <p:txBody>
          <a:bodyPr spcFirstLastPara="1" wrap="square" lIns="121900" tIns="121900" rIns="121900" bIns="121900" anchor="t" anchorCtr="0">
            <a:normAutofit fontScale="47500" lnSpcReduction="20000"/>
          </a:bodyPr>
          <a:lstStyle/>
          <a:p>
            <a:pPr marL="0" lvl="0" indent="0" algn="l" rtl="0">
              <a:lnSpc>
                <a:spcPct val="90000"/>
              </a:lnSpc>
              <a:spcBef>
                <a:spcPts val="1000"/>
              </a:spcBef>
              <a:spcAft>
                <a:spcPts val="0"/>
              </a:spcAft>
              <a:buSzPct val="52293"/>
              <a:buNone/>
            </a:pPr>
            <a:r>
              <a:rPr lang="en-US" sz="3250" b="1" dirty="0"/>
              <a:t>What’s the input (to the model) and its corresponding </a:t>
            </a:r>
            <a:r>
              <a:rPr lang="en-US" sz="3250" dirty="0"/>
              <a:t>output ? For the input, each traffic sign image from GTSRB is first preprocessed and then fed into different models. For the classical baseline, the image is resized to a 64×64 grayscale image, flattened into a 4,096-dimensional vector, and then reduced to a 150-dimensional feature vector using PCA. For the deep learning models (the custom CNNs and the ResNet-18 extension), the images are kept as RGB tensors (64×64 for the small CNNs, 224×224 for ResNet-18) so the networks can directly learn spatial patterns from the pixel grid.</a:t>
            </a:r>
          </a:p>
          <a:p>
            <a:pPr marL="0" lvl="0" indent="0" algn="l" rtl="0">
              <a:lnSpc>
                <a:spcPct val="90000"/>
              </a:lnSpc>
              <a:spcBef>
                <a:spcPts val="1000"/>
              </a:spcBef>
              <a:spcAft>
                <a:spcPts val="0"/>
              </a:spcAft>
              <a:buSzPct val="52293"/>
              <a:buNone/>
            </a:pPr>
            <a:r>
              <a:rPr lang="en-US" sz="3250" dirty="0"/>
              <a:t>For the output, all models ultimately predict one of 43 traffic sign classes. The baseline Ridge regression model produces 43 scores (one per class) and the class with the highest score is chosen as the prediction. The CNNs and ResNet-18 output 43 logits/probabilities, and again the class with the highest value is selected. In all cases, the final output is a single class index in the range 0–42, indicating the predicted traffic sign.</a:t>
            </a:r>
            <a:endParaRPr sz="2950" dirty="0"/>
          </a:p>
        </p:txBody>
      </p:sp>
      <p:sp>
        <p:nvSpPr>
          <p:cNvPr id="121" name="Google Shape;121;p19"/>
          <p:cNvSpPr txBox="1">
            <a:spLocks noGrp="1"/>
          </p:cNvSpPr>
          <p:nvPr>
            <p:ph type="body" idx="2"/>
          </p:nvPr>
        </p:nvSpPr>
        <p:spPr>
          <a:xfrm>
            <a:off x="6298225" y="2385629"/>
            <a:ext cx="5032500" cy="2905200"/>
          </a:xfrm>
          <a:prstGeom prst="rect">
            <a:avLst/>
          </a:prstGeom>
          <a:noFill/>
          <a:ln>
            <a:noFill/>
          </a:ln>
        </p:spPr>
        <p:txBody>
          <a:bodyPr spcFirstLastPara="1" wrap="square" lIns="121900" tIns="121900" rIns="121900" bIns="121900" anchor="t" anchorCtr="0">
            <a:normAutofit/>
          </a:bodyPr>
          <a:lstStyle/>
          <a:p>
            <a:pPr marL="0" lvl="0" indent="0" algn="l" rtl="0">
              <a:lnSpc>
                <a:spcPct val="90000"/>
              </a:lnSpc>
              <a:spcBef>
                <a:spcPts val="1000"/>
              </a:spcBef>
              <a:spcAft>
                <a:spcPts val="0"/>
              </a:spcAft>
              <a:buSzPts val="1700"/>
              <a:buNone/>
            </a:pPr>
            <a:r>
              <a:rPr lang="en-US" sz="2000" b="1" dirty="0"/>
              <a:t>Can you display some sample (input, output) pairs?</a:t>
            </a:r>
            <a:endParaRPr sz="2000" b="1" dirty="0"/>
          </a:p>
          <a:p>
            <a:pPr marL="0" lvl="0" indent="0" algn="l" rtl="0">
              <a:lnSpc>
                <a:spcPct val="90000"/>
              </a:lnSpc>
              <a:spcBef>
                <a:spcPts val="1000"/>
              </a:spcBef>
              <a:spcAft>
                <a:spcPts val="0"/>
              </a:spcAft>
              <a:buSzPts val="1700"/>
              <a:buNone/>
            </a:pPr>
            <a:endParaRPr sz="2000" b="1" dirty="0"/>
          </a:p>
          <a:p>
            <a:pPr marL="0" lvl="0" indent="0" algn="l" rtl="0">
              <a:lnSpc>
                <a:spcPct val="90000"/>
              </a:lnSpc>
              <a:spcBef>
                <a:spcPts val="1000"/>
              </a:spcBef>
              <a:spcAft>
                <a:spcPts val="0"/>
              </a:spcAft>
              <a:buSzPts val="1700"/>
              <a:buNone/>
            </a:pPr>
            <a:endParaRPr sz="2000" b="1" dirty="0"/>
          </a:p>
        </p:txBody>
      </p:sp>
      <p:graphicFrame>
        <p:nvGraphicFramePr>
          <p:cNvPr id="122" name="Google Shape;122;p19"/>
          <p:cNvGraphicFramePr/>
          <p:nvPr>
            <p:extLst>
              <p:ext uri="{D42A27DB-BD31-4B8C-83A1-F6EECF244321}">
                <p14:modId xmlns:p14="http://schemas.microsoft.com/office/powerpoint/2010/main" val="3423891275"/>
              </p:ext>
            </p:extLst>
          </p:nvPr>
        </p:nvGraphicFramePr>
        <p:xfrm>
          <a:off x="6378025" y="3362138"/>
          <a:ext cx="5032500" cy="2600870"/>
        </p:xfrm>
        <a:graphic>
          <a:graphicData uri="http://schemas.openxmlformats.org/drawingml/2006/table">
            <a:tbl>
              <a:tblPr>
                <a:noFill/>
                <a:tableStyleId>{1462FDC7-1D18-4686-845C-F99325A23272}</a:tableStyleId>
              </a:tblPr>
              <a:tblGrid>
                <a:gridCol w="2516250">
                  <a:extLst>
                    <a:ext uri="{9D8B030D-6E8A-4147-A177-3AD203B41FA5}">
                      <a16:colId xmlns:a16="http://schemas.microsoft.com/office/drawing/2014/main" val="20000"/>
                    </a:ext>
                  </a:extLst>
                </a:gridCol>
                <a:gridCol w="2516250">
                  <a:extLst>
                    <a:ext uri="{9D8B030D-6E8A-4147-A177-3AD203B41FA5}">
                      <a16:colId xmlns:a16="http://schemas.microsoft.com/office/drawing/2014/main" val="20001"/>
                    </a:ext>
                  </a:extLst>
                </a:gridCol>
              </a:tblGrid>
              <a:tr h="558800">
                <a:tc>
                  <a:txBody>
                    <a:bodyPr/>
                    <a:lstStyle/>
                    <a:p>
                      <a:pPr marL="0" lvl="0" indent="0" algn="l" rtl="0">
                        <a:spcBef>
                          <a:spcPts val="0"/>
                        </a:spcBef>
                        <a:spcAft>
                          <a:spcPts val="0"/>
                        </a:spcAft>
                        <a:buNone/>
                      </a:pPr>
                      <a:r>
                        <a:rPr lang="en-US" b="1" dirty="0"/>
                        <a:t>Input</a:t>
                      </a:r>
                      <a:endParaRPr b="1" dirty="0"/>
                    </a:p>
                  </a:txBody>
                  <a:tcPr marL="91425" marR="91425" marT="91425" marB="91425"/>
                </a:tc>
                <a:tc>
                  <a:txBody>
                    <a:bodyPr/>
                    <a:lstStyle/>
                    <a:p>
                      <a:pPr marL="0" lvl="0" indent="0" algn="l" rtl="0">
                        <a:spcBef>
                          <a:spcPts val="0"/>
                        </a:spcBef>
                        <a:spcAft>
                          <a:spcPts val="0"/>
                        </a:spcAft>
                        <a:buNone/>
                      </a:pPr>
                      <a:r>
                        <a:rPr lang="en-US" b="1" dirty="0"/>
                        <a:t>Output</a:t>
                      </a:r>
                      <a:endParaRPr b="1" dirty="0"/>
                    </a:p>
                  </a:txBody>
                  <a:tcPr marL="91425" marR="91425" marT="91425" marB="91425"/>
                </a:tc>
                <a:extLst>
                  <a:ext uri="{0D108BD9-81ED-4DB2-BD59-A6C34878D82A}">
                    <a16:rowId xmlns:a16="http://schemas.microsoft.com/office/drawing/2014/main" val="10000"/>
                  </a:ext>
                </a:extLst>
              </a:tr>
              <a:tr h="558800">
                <a:tc>
                  <a:txBody>
                    <a:bodyPr/>
                    <a:lstStyle/>
                    <a:p>
                      <a:pPr marL="0" lvl="0" indent="0" algn="l" rtl="0">
                        <a:spcBef>
                          <a:spcPts val="0"/>
                        </a:spcBef>
                        <a:spcAft>
                          <a:spcPts val="0"/>
                        </a:spcAft>
                        <a:buNone/>
                      </a:pPr>
                      <a:r>
                        <a:rPr lang="en-US"/>
                        <a:t>Grayscale 64x64 Image -&gt; PCA -&gt; 150-dim vector</a:t>
                      </a:r>
                      <a:endParaRPr/>
                    </a:p>
                  </a:txBody>
                  <a:tcPr marL="91425" marR="91425" marT="91425" marB="91425"/>
                </a:tc>
                <a:tc>
                  <a:txBody>
                    <a:bodyPr/>
                    <a:lstStyle/>
                    <a:p>
                      <a:pPr marL="0" lvl="0" indent="0" algn="l" rtl="0">
                        <a:spcBef>
                          <a:spcPts val="0"/>
                        </a:spcBef>
                        <a:spcAft>
                          <a:spcPts val="0"/>
                        </a:spcAft>
                        <a:buNone/>
                      </a:pPr>
                      <a:r>
                        <a:rPr lang="en-US" dirty="0"/>
                        <a:t>Class 1 (“Speed Limit 30”)</a:t>
                      </a:r>
                      <a:endParaRPr dirty="0"/>
                    </a:p>
                  </a:txBody>
                  <a:tcPr marL="91425" marR="91425" marT="91425" marB="91425"/>
                </a:tc>
                <a:extLst>
                  <a:ext uri="{0D108BD9-81ED-4DB2-BD59-A6C34878D82A}">
                    <a16:rowId xmlns:a16="http://schemas.microsoft.com/office/drawing/2014/main" val="10001"/>
                  </a:ext>
                </a:extLst>
              </a:tr>
              <a:tr h="558800">
                <a:tc>
                  <a:txBody>
                    <a:bodyPr/>
                    <a:lstStyle/>
                    <a:p>
                      <a:pPr marL="0" lvl="0" indent="0" algn="l" rtl="0">
                        <a:spcBef>
                          <a:spcPts val="0"/>
                        </a:spcBef>
                        <a:spcAft>
                          <a:spcPts val="0"/>
                        </a:spcAft>
                        <a:buNone/>
                      </a:pPr>
                      <a:r>
                        <a:rPr lang="en-US" dirty="0"/>
                        <a:t>Grayscale 64x64 Image -&gt; PCA -&gt; 150-dim vector</a:t>
                      </a:r>
                      <a:endParaRPr dirty="0"/>
                    </a:p>
                  </a:txBody>
                  <a:tcPr marL="91425" marR="91425" marT="91425" marB="91425"/>
                </a:tc>
                <a:tc>
                  <a:txBody>
                    <a:bodyPr/>
                    <a:lstStyle/>
                    <a:p>
                      <a:pPr marL="0" lvl="0" indent="0" algn="l" rtl="0">
                        <a:spcBef>
                          <a:spcPts val="0"/>
                        </a:spcBef>
                        <a:spcAft>
                          <a:spcPts val="0"/>
                        </a:spcAft>
                        <a:buNone/>
                      </a:pPr>
                      <a:r>
                        <a:rPr lang="en-US" dirty="0"/>
                        <a:t>Class 18 (“General Warning Sign”)</a:t>
                      </a:r>
                      <a:endParaRPr dirty="0"/>
                    </a:p>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2"/>
                  </a:ext>
                </a:extLst>
              </a:tr>
              <a:tr h="558800">
                <a:tc>
                  <a:txBody>
                    <a:bodyPr/>
                    <a:lstStyle/>
                    <a:p>
                      <a:pPr marL="0" lvl="0" indent="0" algn="l" rtl="0">
                        <a:spcBef>
                          <a:spcPts val="0"/>
                        </a:spcBef>
                        <a:spcAft>
                          <a:spcPts val="0"/>
                        </a:spcAft>
                        <a:buNone/>
                      </a:pPr>
                      <a:r>
                        <a:rPr lang="en-US"/>
                        <a:t>Grayscale 64x64 Image -&gt; PCA -&gt; 150-dim vector</a:t>
                      </a:r>
                      <a:endParaRPr/>
                    </a:p>
                  </a:txBody>
                  <a:tcPr marL="91425" marR="91425" marT="91425" marB="91425"/>
                </a:tc>
                <a:tc>
                  <a:txBody>
                    <a:bodyPr/>
                    <a:lstStyle/>
                    <a:p>
                      <a:pPr marL="0" lvl="0" indent="0" algn="l" rtl="0">
                        <a:spcBef>
                          <a:spcPts val="0"/>
                        </a:spcBef>
                        <a:spcAft>
                          <a:spcPts val="0"/>
                        </a:spcAft>
                        <a:buNone/>
                      </a:pPr>
                      <a:r>
                        <a:rPr lang="en-US" dirty="0"/>
                        <a:t>Class 13 (“Yield”)</a:t>
                      </a:r>
                      <a:endParaRPr dirty="0"/>
                    </a:p>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3"/>
                  </a:ext>
                </a:extLst>
              </a:tr>
            </a:tbl>
          </a:graphicData>
        </a:graphic>
      </p:graphicFrame>
      <p:sp>
        <p:nvSpPr>
          <p:cNvPr id="123" name="Google Shape;123;p19"/>
          <p:cNvSpPr txBox="1"/>
          <p:nvPr/>
        </p:nvSpPr>
        <p:spPr>
          <a:xfrm>
            <a:off x="6384375" y="5963008"/>
            <a:ext cx="5112300" cy="71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dirty="0">
                <a:solidFill>
                  <a:schemeClr val="accent1"/>
                </a:solidFill>
                <a:latin typeface="Lato"/>
                <a:ea typeface="Lato"/>
                <a:cs typeface="Lato"/>
                <a:sym typeface="Lato"/>
              </a:rPr>
              <a:t>The baseline model mainly sees a reduced numeric feature vector, while the CNNs and ResNet-18 operate directly on the image grid, which is why the deep learning models achieve much higher accuracy and capture richer visual structure.</a:t>
            </a:r>
            <a:endParaRPr sz="1300" dirty="0">
              <a:solidFill>
                <a:schemeClr val="accent1"/>
              </a:solidFill>
              <a:latin typeface="Lato"/>
              <a:ea typeface="Lato"/>
              <a:cs typeface="Lato"/>
              <a:sym typeface="Lato"/>
            </a:endParaRPr>
          </a:p>
        </p:txBody>
      </p:sp>
      <p:pic>
        <p:nvPicPr>
          <p:cNvPr id="124" name="Google Shape;124;p19" title="grayscaletrafficsigns.png"/>
          <p:cNvPicPr preferRelativeResize="0"/>
          <p:nvPr/>
        </p:nvPicPr>
        <p:blipFill>
          <a:blip r:embed="rId3">
            <a:alphaModFix/>
          </a:blip>
          <a:stretch>
            <a:fillRect/>
          </a:stretch>
        </p:blipFill>
        <p:spPr>
          <a:xfrm>
            <a:off x="4648200" y="986675"/>
            <a:ext cx="6848475" cy="771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90000"/>
              </a:lnSpc>
              <a:spcBef>
                <a:spcPts val="0"/>
              </a:spcBef>
              <a:spcAft>
                <a:spcPts val="0"/>
              </a:spcAft>
              <a:buSzPct val="105105"/>
              <a:buNone/>
            </a:pPr>
            <a:r>
              <a:rPr lang="en-US" sz="3700"/>
              <a:t>Model input-output [2/2 slides]</a:t>
            </a:r>
            <a:endParaRPr sz="3700"/>
          </a:p>
          <a:p>
            <a:pPr marL="0" lvl="0" indent="0" algn="l" rtl="0">
              <a:lnSpc>
                <a:spcPct val="90000"/>
              </a:lnSpc>
              <a:spcBef>
                <a:spcPts val="1000"/>
              </a:spcBef>
              <a:spcAft>
                <a:spcPts val="0"/>
              </a:spcAft>
              <a:buSzPct val="194444"/>
              <a:buNone/>
            </a:pPr>
            <a:endParaRPr sz="2000" b="0">
              <a:solidFill>
                <a:schemeClr val="accent1"/>
              </a:solidFill>
              <a:latin typeface="Lato"/>
              <a:ea typeface="Lato"/>
              <a:cs typeface="Lato"/>
              <a:sym typeface="Lato"/>
            </a:endParaRPr>
          </a:p>
        </p:txBody>
      </p:sp>
      <p:sp>
        <p:nvSpPr>
          <p:cNvPr id="130" name="Google Shape;130;p20"/>
          <p:cNvSpPr txBox="1">
            <a:spLocks noGrp="1"/>
          </p:cNvSpPr>
          <p:nvPr>
            <p:ph type="body" idx="1"/>
          </p:nvPr>
        </p:nvSpPr>
        <p:spPr>
          <a:xfrm>
            <a:off x="968025" y="2471900"/>
            <a:ext cx="5032500" cy="3743400"/>
          </a:xfrm>
          <a:prstGeom prst="rect">
            <a:avLst/>
          </a:prstGeom>
          <a:noFill/>
          <a:ln>
            <a:noFill/>
          </a:ln>
        </p:spPr>
        <p:txBody>
          <a:bodyPr spcFirstLastPara="1" wrap="square" lIns="121900" tIns="121900" rIns="121900" bIns="121900" anchor="t" anchorCtr="0">
            <a:normAutofit fontScale="77500" lnSpcReduction="20000"/>
          </a:bodyPr>
          <a:lstStyle/>
          <a:p>
            <a:pPr marL="0" lvl="0" indent="0" algn="l" rtl="0">
              <a:lnSpc>
                <a:spcPct val="90000"/>
              </a:lnSpc>
              <a:spcBef>
                <a:spcPts val="1000"/>
              </a:spcBef>
              <a:spcAft>
                <a:spcPts val="0"/>
              </a:spcAft>
              <a:buSzPct val="85000"/>
              <a:buNone/>
            </a:pPr>
            <a:r>
              <a:rPr lang="en-US" sz="2000" b="1" dirty="0"/>
              <a:t>What’s the input (to the model) and its corresponding output?</a:t>
            </a:r>
          </a:p>
          <a:p>
            <a:pPr marL="0" lvl="0" indent="0" algn="l" rtl="0">
              <a:lnSpc>
                <a:spcPct val="90000"/>
              </a:lnSpc>
              <a:spcBef>
                <a:spcPts val="1000"/>
              </a:spcBef>
              <a:spcAft>
                <a:spcPts val="0"/>
              </a:spcAft>
              <a:buSzPct val="85000"/>
              <a:buNone/>
            </a:pPr>
            <a:r>
              <a:rPr lang="en-US" sz="2000" dirty="0"/>
              <a:t>For the ResNet-18 model, the input is a 224×224 RGB traffic sign image from the GTSRB dataset. Before feeding it to the network, the image is resized to 224×224 and normalized using the standard ImageNet mean and standard deviation, so it matches the statistics the pretrained ResNet-18 was originally trained on. Like the CNNs, ResNet-18 operates directly on the full spatial structure of the image, allowing it to learn rich features such as edges, shapes, colors, and higher-level patterns.ResNet-18 outputs a 43-dimensional probability distribution, where each value represents the model’s confidence that the image belongs to a particular traffic sign class. The final predicted output is the class with the highest probability (the argmax over the 43 outputs), which corresponds to a class index in the range 0–42.</a:t>
            </a:r>
            <a:endParaRPr sz="2000" dirty="0"/>
          </a:p>
        </p:txBody>
      </p:sp>
      <p:sp>
        <p:nvSpPr>
          <p:cNvPr id="131" name="Google Shape;131;p20"/>
          <p:cNvSpPr txBox="1">
            <a:spLocks noGrp="1"/>
          </p:cNvSpPr>
          <p:nvPr>
            <p:ph type="body" idx="2"/>
          </p:nvPr>
        </p:nvSpPr>
        <p:spPr>
          <a:xfrm>
            <a:off x="6207000" y="2471900"/>
            <a:ext cx="5032500" cy="942900"/>
          </a:xfrm>
          <a:prstGeom prst="rect">
            <a:avLst/>
          </a:prstGeom>
          <a:noFill/>
          <a:ln>
            <a:noFill/>
          </a:ln>
        </p:spPr>
        <p:txBody>
          <a:bodyPr spcFirstLastPara="1" wrap="square" lIns="121900" tIns="121900" rIns="121900" bIns="121900" anchor="t" anchorCtr="0">
            <a:normAutofit/>
          </a:bodyPr>
          <a:lstStyle/>
          <a:p>
            <a:pPr marL="0" lvl="0" indent="0" algn="l" rtl="0">
              <a:lnSpc>
                <a:spcPct val="90000"/>
              </a:lnSpc>
              <a:spcBef>
                <a:spcPts val="1000"/>
              </a:spcBef>
              <a:spcAft>
                <a:spcPts val="0"/>
              </a:spcAft>
              <a:buSzPts val="1700"/>
              <a:buNone/>
            </a:pPr>
            <a:r>
              <a:rPr lang="en-US" sz="2000" b="1" dirty="0"/>
              <a:t>Can you display some sample (input, output) pairs?</a:t>
            </a:r>
            <a:endParaRPr b="1" dirty="0"/>
          </a:p>
        </p:txBody>
      </p:sp>
      <p:graphicFrame>
        <p:nvGraphicFramePr>
          <p:cNvPr id="132" name="Google Shape;132;p20"/>
          <p:cNvGraphicFramePr/>
          <p:nvPr>
            <p:extLst>
              <p:ext uri="{D42A27DB-BD31-4B8C-83A1-F6EECF244321}">
                <p14:modId xmlns:p14="http://schemas.microsoft.com/office/powerpoint/2010/main" val="673272580"/>
              </p:ext>
            </p:extLst>
          </p:nvPr>
        </p:nvGraphicFramePr>
        <p:xfrm>
          <a:off x="6327316" y="3582352"/>
          <a:ext cx="5032500" cy="2111890"/>
        </p:xfrm>
        <a:graphic>
          <a:graphicData uri="http://schemas.openxmlformats.org/drawingml/2006/table">
            <a:tbl>
              <a:tblPr>
                <a:noFill/>
                <a:tableStyleId>{1462FDC7-1D18-4686-845C-F99325A23272}</a:tableStyleId>
              </a:tblPr>
              <a:tblGrid>
                <a:gridCol w="2516250">
                  <a:extLst>
                    <a:ext uri="{9D8B030D-6E8A-4147-A177-3AD203B41FA5}">
                      <a16:colId xmlns:a16="http://schemas.microsoft.com/office/drawing/2014/main" val="20000"/>
                    </a:ext>
                  </a:extLst>
                </a:gridCol>
                <a:gridCol w="2516250">
                  <a:extLst>
                    <a:ext uri="{9D8B030D-6E8A-4147-A177-3AD203B41FA5}">
                      <a16:colId xmlns:a16="http://schemas.microsoft.com/office/drawing/2014/main" val="20001"/>
                    </a:ext>
                  </a:extLst>
                </a:gridCol>
              </a:tblGrid>
              <a:tr h="446375">
                <a:tc>
                  <a:txBody>
                    <a:bodyPr/>
                    <a:lstStyle/>
                    <a:p>
                      <a:pPr marL="0" lvl="0" indent="0" algn="l" rtl="0">
                        <a:spcBef>
                          <a:spcPts val="0"/>
                        </a:spcBef>
                        <a:spcAft>
                          <a:spcPts val="0"/>
                        </a:spcAft>
                        <a:buNone/>
                      </a:pPr>
                      <a:r>
                        <a:rPr lang="en-US" dirty="0"/>
                        <a:t>Input</a:t>
                      </a:r>
                      <a:endParaRPr dirty="0"/>
                    </a:p>
                  </a:txBody>
                  <a:tcPr marL="91425" marR="91425" marT="91425" marB="91425"/>
                </a:tc>
                <a:tc>
                  <a:txBody>
                    <a:bodyPr/>
                    <a:lstStyle/>
                    <a:p>
                      <a:pPr marL="0" lvl="0" indent="0" algn="l" rtl="0">
                        <a:spcBef>
                          <a:spcPts val="0"/>
                        </a:spcBef>
                        <a:spcAft>
                          <a:spcPts val="0"/>
                        </a:spcAft>
                        <a:buNone/>
                      </a:pPr>
                      <a:r>
                        <a:rPr lang="en-US"/>
                        <a:t>Output</a:t>
                      </a:r>
                      <a:endParaRPr/>
                    </a:p>
                  </a:txBody>
                  <a:tcPr marL="91425" marR="91425" marT="91425" marB="91425"/>
                </a:tc>
                <a:extLst>
                  <a:ext uri="{0D108BD9-81ED-4DB2-BD59-A6C34878D82A}">
                    <a16:rowId xmlns:a16="http://schemas.microsoft.com/office/drawing/2014/main" val="10000"/>
                  </a:ext>
                </a:extLst>
              </a:tr>
              <a:tr h="446375">
                <a:tc>
                  <a:txBody>
                    <a:bodyPr/>
                    <a:lstStyle/>
                    <a:p>
                      <a:pPr marL="0" lvl="0" indent="0" algn="l" rtl="0">
                        <a:spcBef>
                          <a:spcPts val="0"/>
                        </a:spcBef>
                        <a:spcAft>
                          <a:spcPts val="0"/>
                        </a:spcAft>
                        <a:buNone/>
                      </a:pPr>
                      <a:r>
                        <a:rPr lang="en-US" dirty="0"/>
                        <a:t>RGB image of a “Speed Limit 50” sign</a:t>
                      </a:r>
                      <a:endParaRPr dirty="0"/>
                    </a:p>
                  </a:txBody>
                  <a:tcPr marL="91425" marR="91425" marT="91425" marB="91425"/>
                </a:tc>
                <a:tc>
                  <a:txBody>
                    <a:bodyPr/>
                    <a:lstStyle/>
                    <a:p>
                      <a:pPr marL="0" lvl="0" indent="0" algn="l" rtl="0">
                        <a:spcBef>
                          <a:spcPts val="0"/>
                        </a:spcBef>
                        <a:spcAft>
                          <a:spcPts val="0"/>
                        </a:spcAft>
                        <a:buNone/>
                      </a:pPr>
                      <a:r>
                        <a:rPr lang="en-US"/>
                        <a:t>Class index 2</a:t>
                      </a:r>
                      <a:endParaRPr/>
                    </a:p>
                  </a:txBody>
                  <a:tcPr marL="91425" marR="91425" marT="91425" marB="91425"/>
                </a:tc>
                <a:extLst>
                  <a:ext uri="{0D108BD9-81ED-4DB2-BD59-A6C34878D82A}">
                    <a16:rowId xmlns:a16="http://schemas.microsoft.com/office/drawing/2014/main" val="10001"/>
                  </a:ext>
                </a:extLst>
              </a:tr>
              <a:tr h="446375">
                <a:tc>
                  <a:txBody>
                    <a:bodyPr/>
                    <a:lstStyle/>
                    <a:p>
                      <a:pPr marL="0" lvl="0" indent="0" algn="l" rtl="0">
                        <a:spcBef>
                          <a:spcPts val="0"/>
                        </a:spcBef>
                        <a:spcAft>
                          <a:spcPts val="0"/>
                        </a:spcAft>
                        <a:buNone/>
                      </a:pPr>
                      <a:r>
                        <a:rPr lang="en-US" dirty="0"/>
                        <a:t>RGB image of a “Yield” sign</a:t>
                      </a:r>
                      <a:endParaRPr dirty="0"/>
                    </a:p>
                  </a:txBody>
                  <a:tcPr marL="91425" marR="91425" marT="91425" marB="91425"/>
                </a:tc>
                <a:tc>
                  <a:txBody>
                    <a:bodyPr/>
                    <a:lstStyle/>
                    <a:p>
                      <a:pPr marL="0" lvl="0" indent="0" algn="l" rtl="0">
                        <a:spcBef>
                          <a:spcPts val="0"/>
                        </a:spcBef>
                        <a:spcAft>
                          <a:spcPts val="0"/>
                        </a:spcAft>
                        <a:buNone/>
                      </a:pPr>
                      <a:r>
                        <a:rPr lang="en-US"/>
                        <a:t>Class index 13</a:t>
                      </a:r>
                      <a:endParaRPr/>
                    </a:p>
                  </a:txBody>
                  <a:tcPr marL="91425" marR="91425" marT="91425" marB="91425"/>
                </a:tc>
                <a:extLst>
                  <a:ext uri="{0D108BD9-81ED-4DB2-BD59-A6C34878D82A}">
                    <a16:rowId xmlns:a16="http://schemas.microsoft.com/office/drawing/2014/main" val="10002"/>
                  </a:ext>
                </a:extLst>
              </a:tr>
              <a:tr h="446375">
                <a:tc>
                  <a:txBody>
                    <a:bodyPr/>
                    <a:lstStyle/>
                    <a:p>
                      <a:pPr marL="0" lvl="0" indent="0" algn="l" rtl="0">
                        <a:spcBef>
                          <a:spcPts val="0"/>
                        </a:spcBef>
                        <a:spcAft>
                          <a:spcPts val="0"/>
                        </a:spcAft>
                        <a:buNone/>
                      </a:pPr>
                      <a:r>
                        <a:rPr lang="en-US"/>
                        <a:t>RGB image of a “Triangular warning” sign</a:t>
                      </a:r>
                      <a:endParaRPr/>
                    </a:p>
                  </a:txBody>
                  <a:tcPr marL="91425" marR="91425" marT="91425" marB="91425"/>
                </a:tc>
                <a:tc>
                  <a:txBody>
                    <a:bodyPr/>
                    <a:lstStyle/>
                    <a:p>
                      <a:pPr marL="0" lvl="0" indent="0" algn="l" rtl="0">
                        <a:spcBef>
                          <a:spcPts val="0"/>
                        </a:spcBef>
                        <a:spcAft>
                          <a:spcPts val="0"/>
                        </a:spcAft>
                        <a:buNone/>
                      </a:pPr>
                      <a:r>
                        <a:rPr lang="en-US" dirty="0"/>
                        <a:t>Class index 18</a:t>
                      </a:r>
                      <a:endParaRPr dirty="0"/>
                    </a:p>
                  </a:txBody>
                  <a:tcPr marL="91425" marR="91425" marT="91425" marB="91425"/>
                </a:tc>
                <a:extLst>
                  <a:ext uri="{0D108BD9-81ED-4DB2-BD59-A6C34878D82A}">
                    <a16:rowId xmlns:a16="http://schemas.microsoft.com/office/drawing/2014/main" val="10003"/>
                  </a:ext>
                </a:extLst>
              </a:tr>
            </a:tbl>
          </a:graphicData>
        </a:graphic>
      </p:graphicFrame>
      <p:pic>
        <p:nvPicPr>
          <p:cNvPr id="133" name="Google Shape;133;p20" title="trafficsigns.png"/>
          <p:cNvPicPr preferRelativeResize="0"/>
          <p:nvPr/>
        </p:nvPicPr>
        <p:blipFill>
          <a:blip r:embed="rId3">
            <a:alphaModFix/>
          </a:blip>
          <a:stretch>
            <a:fillRect/>
          </a:stretch>
        </p:blipFill>
        <p:spPr>
          <a:xfrm>
            <a:off x="4648200" y="967625"/>
            <a:ext cx="6886575" cy="790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90000"/>
              </a:lnSpc>
              <a:spcBef>
                <a:spcPts val="0"/>
              </a:spcBef>
              <a:spcAft>
                <a:spcPts val="0"/>
              </a:spcAft>
              <a:buSzPct val="105105"/>
              <a:buNone/>
            </a:pPr>
            <a:r>
              <a:rPr lang="en-US" sz="3700" dirty="0"/>
              <a:t>Training data and experiment setup</a:t>
            </a:r>
            <a:endParaRPr sz="3700" dirty="0"/>
          </a:p>
          <a:p>
            <a:pPr marL="0" lvl="0" indent="0" algn="l" rtl="0">
              <a:lnSpc>
                <a:spcPct val="90000"/>
              </a:lnSpc>
              <a:spcBef>
                <a:spcPts val="1000"/>
              </a:spcBef>
              <a:spcAft>
                <a:spcPts val="0"/>
              </a:spcAft>
              <a:buSzPct val="194444"/>
              <a:buNone/>
            </a:pPr>
            <a:endParaRPr sz="2000" b="0" dirty="0">
              <a:solidFill>
                <a:schemeClr val="accent1"/>
              </a:solidFill>
              <a:latin typeface="Lato"/>
              <a:ea typeface="Lato"/>
              <a:cs typeface="Lato"/>
              <a:sym typeface="Lato"/>
            </a:endParaRPr>
          </a:p>
        </p:txBody>
      </p:sp>
      <p:sp>
        <p:nvSpPr>
          <p:cNvPr id="139" name="Google Shape;139;p21"/>
          <p:cNvSpPr txBox="1">
            <a:spLocks noGrp="1"/>
          </p:cNvSpPr>
          <p:nvPr>
            <p:ph type="body" idx="1"/>
          </p:nvPr>
        </p:nvSpPr>
        <p:spPr>
          <a:xfrm>
            <a:off x="968026" y="2457251"/>
            <a:ext cx="5032500" cy="3857700"/>
          </a:xfrm>
          <a:prstGeom prst="rect">
            <a:avLst/>
          </a:prstGeom>
          <a:noFill/>
          <a:ln>
            <a:noFill/>
          </a:ln>
        </p:spPr>
        <p:txBody>
          <a:bodyPr spcFirstLastPara="1" wrap="square" lIns="121900" tIns="121900" rIns="121900" bIns="121900" anchor="t" anchorCtr="0">
            <a:noAutofit/>
          </a:bodyPr>
          <a:lstStyle/>
          <a:p>
            <a:pPr marL="120650" indent="0">
              <a:buNone/>
            </a:pPr>
            <a:r>
              <a:rPr lang="en-US" sz="1300" b="1" dirty="0"/>
              <a:t>What data you used to train your model(s)?</a:t>
            </a:r>
            <a:br>
              <a:rPr lang="en-US" sz="1300" dirty="0"/>
            </a:br>
            <a:r>
              <a:rPr lang="en-US" sz="1300" dirty="0"/>
              <a:t>All the models were trained using the German Traffic Sign Recognition Benchmark (GTSRB) dataset, which contains 39,209 training images, 12,630 test images, 43 distinct traffic sign classes, and real-world variability factors.</a:t>
            </a:r>
            <a:br>
              <a:rPr lang="en-US" sz="1300" dirty="0"/>
            </a:br>
            <a:r>
              <a:rPr lang="en-US" sz="1300" dirty="0"/>
              <a:t>For the baseline model, the images were converted to 64×64 grayscale and flattened before applying PCA.</a:t>
            </a:r>
            <a:br>
              <a:rPr lang="en-US" sz="1300" dirty="0"/>
            </a:br>
            <a:r>
              <a:rPr lang="en-US" sz="1300" dirty="0"/>
              <a:t>For the plain and regularized CNNs, the images were kept as 64×64 RGB tensors.</a:t>
            </a:r>
            <a:br>
              <a:rPr lang="en-US" sz="1300" dirty="0"/>
            </a:br>
            <a:r>
              <a:rPr lang="en-US" sz="1300" dirty="0"/>
              <a:t>For the </a:t>
            </a:r>
            <a:r>
              <a:rPr lang="en-US" sz="1300" b="1" dirty="0"/>
              <a:t>ResNet-18 extension</a:t>
            </a:r>
            <a:r>
              <a:rPr lang="en-US" sz="1300" dirty="0"/>
              <a:t>, the same GTSRB images were resized to 224×224 RGB and normalized using the standard ImageNet mean and standard deviation, with light data augmentation (small rotations and mild color jitter) applied during training.</a:t>
            </a:r>
            <a:br>
              <a:rPr lang="en-US" sz="1300" dirty="0"/>
            </a:br>
            <a:r>
              <a:rPr lang="en-US" sz="1300" dirty="0"/>
              <a:t>To support evaluation and hyperparameter tuning, the training set was split into an 85% training subset and a 15% validation subset for all models.</a:t>
            </a:r>
          </a:p>
        </p:txBody>
      </p:sp>
      <p:sp>
        <p:nvSpPr>
          <p:cNvPr id="140" name="Google Shape;140;p21"/>
          <p:cNvSpPr txBox="1">
            <a:spLocks noGrp="1"/>
          </p:cNvSpPr>
          <p:nvPr>
            <p:ph type="body" idx="2"/>
          </p:nvPr>
        </p:nvSpPr>
        <p:spPr>
          <a:xfrm>
            <a:off x="6191476" y="2471900"/>
            <a:ext cx="5032500" cy="3857700"/>
          </a:xfrm>
          <a:prstGeom prst="rect">
            <a:avLst/>
          </a:prstGeom>
          <a:noFill/>
          <a:ln>
            <a:noFill/>
          </a:ln>
        </p:spPr>
        <p:txBody>
          <a:bodyPr spcFirstLastPara="1" wrap="square" lIns="121900" tIns="121900" rIns="121900" bIns="121900" anchor="t" anchorCtr="0">
            <a:normAutofit fontScale="92500" lnSpcReduction="20000"/>
          </a:bodyPr>
          <a:lstStyle/>
          <a:p>
            <a:pPr marL="120650" indent="0">
              <a:buNone/>
            </a:pPr>
            <a:r>
              <a:rPr lang="en-IN" b="1" dirty="0"/>
              <a:t>What was your experiment setup?</a:t>
            </a:r>
            <a:endParaRPr lang="en-IN" dirty="0"/>
          </a:p>
          <a:p>
            <a:pPr marL="120650" indent="0">
              <a:buNone/>
            </a:pPr>
            <a:r>
              <a:rPr lang="en-IN" b="1" dirty="0"/>
              <a:t>Baseline (Ridge + PCA):</a:t>
            </a:r>
            <a:endParaRPr lang="en-IN" dirty="0"/>
          </a:p>
          <a:p>
            <a:pPr marL="863600" lvl="1" indent="-285750"/>
            <a:r>
              <a:rPr lang="en-IN" dirty="0"/>
              <a:t>Pipeline: grayscale → flatten → StandardScaler → PCA(150) → Ridge</a:t>
            </a:r>
          </a:p>
          <a:p>
            <a:pPr marL="863600" lvl="1" indent="-285750"/>
            <a:r>
              <a:rPr lang="en-IN" dirty="0"/>
              <a:t>Hyperparameter: </a:t>
            </a:r>
            <a:r>
              <a:rPr lang="el-GR" dirty="0"/>
              <a:t>α ∈ {0.1, 0.3, 1, 3, 10}</a:t>
            </a:r>
          </a:p>
          <a:p>
            <a:pPr marL="120650" indent="0">
              <a:buNone/>
            </a:pPr>
            <a:r>
              <a:rPr lang="en-IN" b="1" dirty="0"/>
              <a:t>Plain &amp; Regularized CNNs:</a:t>
            </a:r>
            <a:endParaRPr lang="en-IN" dirty="0"/>
          </a:p>
          <a:p>
            <a:pPr marL="863600" lvl="1" indent="-285750"/>
            <a:r>
              <a:rPr lang="en-IN" dirty="0"/>
              <a:t>Input: 64×64 RGB, batch size 128</a:t>
            </a:r>
          </a:p>
          <a:p>
            <a:pPr marL="863600" lvl="1" indent="-285750"/>
            <a:r>
              <a:rPr lang="en-IN" dirty="0"/>
              <a:t>Optimizer: Adam, lr = 1e-3, 20 epochs</a:t>
            </a:r>
          </a:p>
          <a:p>
            <a:pPr marL="863600" lvl="1" indent="-285750"/>
            <a:r>
              <a:rPr lang="en-IN" dirty="0"/>
              <a:t>Loss: Cross-entropy</a:t>
            </a:r>
          </a:p>
          <a:p>
            <a:pPr marL="863600" lvl="1" indent="-285750"/>
            <a:r>
              <a:rPr lang="en-IN" dirty="0"/>
              <a:t>Regularized CNN adds: BatchNorm, Dropout, Weight Decay</a:t>
            </a:r>
          </a:p>
          <a:p>
            <a:pPr marL="120650" indent="0">
              <a:buNone/>
            </a:pPr>
            <a:r>
              <a:rPr lang="en-IN" b="1" dirty="0"/>
              <a:t>ResNet-18 (Extension):</a:t>
            </a:r>
            <a:endParaRPr lang="en-IN" dirty="0"/>
          </a:p>
          <a:p>
            <a:pPr marL="863600" lvl="1" indent="-285750"/>
            <a:r>
              <a:rPr lang="en-IN" dirty="0"/>
              <a:t>Pretrained ResNet-18, final layer → 43 classes</a:t>
            </a:r>
          </a:p>
          <a:p>
            <a:pPr marL="863600" lvl="1" indent="-285750"/>
            <a:r>
              <a:rPr lang="en-IN" dirty="0"/>
              <a:t>Input: 224×224 RGB, batch size 128</a:t>
            </a:r>
          </a:p>
          <a:p>
            <a:pPr marL="863600" lvl="1" indent="-285750"/>
            <a:r>
              <a:rPr lang="en-IN" dirty="0"/>
              <a:t>Adam, lr = 1e-4, weight decay = 1e-4, ~15 epochs</a:t>
            </a:r>
          </a:p>
          <a:p>
            <a:pPr marL="863600" lvl="1" indent="-285750"/>
            <a:r>
              <a:rPr lang="en-IN" dirty="0"/>
              <a:t>Cross-entropy loss with light data augmentation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111"/>
              <a:buNone/>
            </a:pPr>
            <a:r>
              <a:rPr lang="en-US" dirty="0"/>
              <a:t>Baseline model performance (1)</a:t>
            </a:r>
            <a:endParaRPr dirty="0"/>
          </a:p>
        </p:txBody>
      </p:sp>
      <p:sp>
        <p:nvSpPr>
          <p:cNvPr id="146" name="Google Shape;146;p22"/>
          <p:cNvSpPr txBox="1">
            <a:spLocks noGrp="1"/>
          </p:cNvSpPr>
          <p:nvPr>
            <p:ph type="body" idx="1"/>
          </p:nvPr>
        </p:nvSpPr>
        <p:spPr>
          <a:xfrm>
            <a:off x="1063500" y="2471900"/>
            <a:ext cx="5032500" cy="3857700"/>
          </a:xfrm>
          <a:prstGeom prst="rect">
            <a:avLst/>
          </a:prstGeom>
          <a:noFill/>
          <a:ln>
            <a:noFill/>
          </a:ln>
        </p:spPr>
        <p:txBody>
          <a:bodyPr spcFirstLastPara="1" wrap="square" lIns="121900" tIns="121900" rIns="121900" bIns="121900" anchor="t" anchorCtr="0">
            <a:normAutofit lnSpcReduction="10000"/>
          </a:bodyPr>
          <a:lstStyle/>
          <a:p>
            <a:pPr marL="0" lvl="0" indent="0">
              <a:lnSpc>
                <a:spcPct val="90000"/>
              </a:lnSpc>
              <a:spcBef>
                <a:spcPts val="1000"/>
              </a:spcBef>
              <a:buNone/>
            </a:pPr>
            <a:r>
              <a:rPr lang="en-US" sz="2000" b="1" dirty="0"/>
              <a:t>How did your baseline model (1) perform?</a:t>
            </a:r>
            <a:br>
              <a:rPr lang="en-US" sz="2000" dirty="0"/>
            </a:br>
            <a:r>
              <a:rPr lang="en-US" sz="2000" dirty="0"/>
              <a:t>The baseline model achieved a test accuracy of about </a:t>
            </a:r>
            <a:r>
              <a:rPr lang="en-US" sz="2000" b="1" dirty="0"/>
              <a:t>62%</a:t>
            </a:r>
            <a:r>
              <a:rPr lang="en-US" sz="2000" dirty="0"/>
              <a:t> on the GTSRB dataset. This means it learned some useful structure, but its performance is clearly limited by the complexity of the data and the linear nature of the classifier. It often misclassified </a:t>
            </a:r>
            <a:r>
              <a:rPr lang="en-US" sz="2000" b="1" dirty="0"/>
              <a:t>visually similar signs</a:t>
            </a:r>
            <a:r>
              <a:rPr lang="en-US" sz="2000" dirty="0"/>
              <a:t>, especially different speed-limit signs and triangular warning signs, because it cannot fully exploit spatial or color patterns. These results provide a clear </a:t>
            </a:r>
            <a:r>
              <a:rPr lang="en-US" sz="2000" b="1" dirty="0"/>
              <a:t>lower benchmark</a:t>
            </a:r>
            <a:r>
              <a:rPr lang="en-US" sz="2000" dirty="0"/>
              <a:t> for comparing the CNN and ResNet-18 models.</a:t>
            </a:r>
            <a:endParaRPr sz="2000" dirty="0"/>
          </a:p>
        </p:txBody>
      </p:sp>
      <p:sp>
        <p:nvSpPr>
          <p:cNvPr id="147" name="Google Shape;147;p22"/>
          <p:cNvSpPr txBox="1">
            <a:spLocks noGrp="1"/>
          </p:cNvSpPr>
          <p:nvPr>
            <p:ph type="body" idx="2"/>
          </p:nvPr>
        </p:nvSpPr>
        <p:spPr>
          <a:xfrm>
            <a:off x="6186900" y="2471900"/>
            <a:ext cx="5032500" cy="3857700"/>
          </a:xfrm>
          <a:prstGeom prst="rect">
            <a:avLst/>
          </a:prstGeom>
          <a:noFill/>
          <a:ln>
            <a:noFill/>
          </a:ln>
        </p:spPr>
        <p:txBody>
          <a:bodyPr spcFirstLastPara="1" wrap="square" lIns="121900" tIns="121900" rIns="121900" bIns="121900" anchor="t" anchorCtr="0">
            <a:normAutofit/>
          </a:bodyPr>
          <a:lstStyle/>
          <a:p>
            <a:pPr marL="0" lvl="0" indent="0">
              <a:lnSpc>
                <a:spcPct val="90000"/>
              </a:lnSpc>
              <a:spcBef>
                <a:spcPts val="1000"/>
              </a:spcBef>
              <a:buNone/>
            </a:pPr>
            <a:r>
              <a:rPr lang="en-US" sz="2000" b="1" dirty="0"/>
              <a:t>What performance metric did you use?</a:t>
            </a:r>
            <a:br>
              <a:rPr lang="en-US" sz="2000" dirty="0"/>
            </a:br>
            <a:r>
              <a:rPr lang="en-US" sz="2000" dirty="0"/>
              <a:t>The primary metric for the baseline model was </a:t>
            </a:r>
            <a:r>
              <a:rPr lang="en-US" sz="2000" b="1" dirty="0"/>
              <a:t>overall classification accuracy</a:t>
            </a:r>
            <a:r>
              <a:rPr lang="en-US" sz="2000" dirty="0"/>
              <a:t> on the test set (≈62%). In addition, a </a:t>
            </a:r>
            <a:r>
              <a:rPr lang="en-US" sz="2000" b="1" dirty="0"/>
              <a:t>classification report</a:t>
            </a:r>
            <a:r>
              <a:rPr lang="en-US" sz="2000" dirty="0"/>
              <a:t> (precision, recall, F1-score per class) and a </a:t>
            </a:r>
            <a:r>
              <a:rPr lang="en-US" sz="2000" b="1" dirty="0"/>
              <a:t>confusion matrix</a:t>
            </a:r>
            <a:r>
              <a:rPr lang="en-US" sz="2000" dirty="0"/>
              <a:t> were generated to see which traffic sign categories were most frequently misclassified.</a:t>
            </a:r>
            <a:endParaRPr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a:spLocks noGrp="1"/>
          </p:cNvSpPr>
          <p:nvPr>
            <p:ph type="title"/>
          </p:nvPr>
        </p:nvSpPr>
        <p:spPr>
          <a:xfrm>
            <a:off x="972600" y="1758200"/>
            <a:ext cx="3923100" cy="1404000"/>
          </a:xfrm>
          <a:prstGeom prst="rect">
            <a:avLst/>
          </a:prstGeom>
          <a:noFill/>
          <a:ln>
            <a:noFill/>
          </a:ln>
        </p:spPr>
        <p:txBody>
          <a:bodyPr spcFirstLastPara="1" wrap="square" lIns="121900" tIns="121900" rIns="121900" bIns="121900" anchor="t" anchorCtr="0">
            <a:normAutofit/>
          </a:bodyPr>
          <a:lstStyle/>
          <a:p>
            <a:pPr marL="0" lvl="0" indent="0" algn="l" rtl="0">
              <a:lnSpc>
                <a:spcPct val="100000"/>
              </a:lnSpc>
              <a:spcBef>
                <a:spcPts val="0"/>
              </a:spcBef>
              <a:spcAft>
                <a:spcPts val="0"/>
              </a:spcAft>
              <a:buSzPts val="3889"/>
              <a:buNone/>
            </a:pPr>
            <a:r>
              <a:rPr lang="en-US" dirty="0"/>
              <a:t>Baseline model performance (1)</a:t>
            </a:r>
            <a:endParaRPr dirty="0"/>
          </a:p>
        </p:txBody>
      </p:sp>
      <p:pic>
        <p:nvPicPr>
          <p:cNvPr id="153" name="Google Shape;153;p23"/>
          <p:cNvPicPr preferRelativeResize="0"/>
          <p:nvPr/>
        </p:nvPicPr>
        <p:blipFill>
          <a:blip r:embed="rId3">
            <a:alphaModFix/>
          </a:blip>
          <a:stretch>
            <a:fillRect/>
          </a:stretch>
        </p:blipFill>
        <p:spPr>
          <a:xfrm>
            <a:off x="6096000" y="1064863"/>
            <a:ext cx="5943600" cy="5324475"/>
          </a:xfrm>
          <a:prstGeom prst="rect">
            <a:avLst/>
          </a:prstGeom>
          <a:noFill/>
          <a:ln>
            <a:noFill/>
          </a:ln>
        </p:spPr>
      </p:pic>
      <p:sp>
        <p:nvSpPr>
          <p:cNvPr id="154" name="Google Shape;154;p23"/>
          <p:cNvSpPr txBox="1"/>
          <p:nvPr/>
        </p:nvSpPr>
        <p:spPr>
          <a:xfrm>
            <a:off x="609600" y="3257550"/>
            <a:ext cx="5200800" cy="3131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r>
              <a:rPr lang="en-US" sz="2000" dirty="0">
                <a:solidFill>
                  <a:schemeClr val="accent1"/>
                </a:solidFill>
                <a:latin typeface="Lato"/>
                <a:ea typeface="Lato"/>
                <a:cs typeface="Lato"/>
                <a:sym typeface="Lato"/>
              </a:rPr>
              <a:t>This confusion matrix shows that most of the diagonal line is fairly faint, showing that the baseline model correctly classifies relatively few samples.</a:t>
            </a:r>
            <a:endParaRPr sz="2000" dirty="0">
              <a:solidFill>
                <a:schemeClr val="accent1"/>
              </a:solidFill>
              <a:latin typeface="Lato"/>
              <a:ea typeface="Lato"/>
              <a:cs typeface="Lato"/>
              <a:sym typeface="Lato"/>
            </a:endParaRPr>
          </a:p>
          <a:p>
            <a:pPr marL="0" lvl="0" indent="0" algn="l" rtl="0">
              <a:lnSpc>
                <a:spcPct val="90000"/>
              </a:lnSpc>
              <a:spcBef>
                <a:spcPts val="1000"/>
              </a:spcBef>
              <a:spcAft>
                <a:spcPts val="0"/>
              </a:spcAft>
              <a:buNone/>
            </a:pPr>
            <a:r>
              <a:rPr lang="en-US" sz="2000" dirty="0">
                <a:solidFill>
                  <a:schemeClr val="accent1"/>
                </a:solidFill>
                <a:latin typeface="Lato"/>
                <a:ea typeface="Lato"/>
                <a:cs typeface="Lato"/>
                <a:sym typeface="Lato"/>
              </a:rPr>
              <a:t>Additionally, many rows have no strong diagonal, indicating that the model frequently misclassified entire classes.</a:t>
            </a:r>
            <a:endParaRPr sz="2000" dirty="0">
              <a:solidFill>
                <a:schemeClr val="accent1"/>
              </a:solidFill>
              <a:latin typeface="Lato"/>
              <a:ea typeface="Lato"/>
              <a:cs typeface="Lato"/>
              <a:sym typeface="Lato"/>
            </a:endParaRPr>
          </a:p>
          <a:p>
            <a:pPr marL="0" lvl="0" indent="0" algn="l" rtl="0">
              <a:lnSpc>
                <a:spcPct val="90000"/>
              </a:lnSpc>
              <a:spcBef>
                <a:spcPts val="1000"/>
              </a:spcBef>
              <a:spcAft>
                <a:spcPts val="0"/>
              </a:spcAft>
              <a:buNone/>
            </a:pPr>
            <a:r>
              <a:rPr lang="en-US" sz="2000" dirty="0">
                <a:solidFill>
                  <a:schemeClr val="accent1"/>
                </a:solidFill>
                <a:latin typeface="Lato"/>
                <a:ea typeface="Lato"/>
                <a:cs typeface="Lato"/>
                <a:sym typeface="Lato"/>
              </a:rPr>
              <a:t>Off-diagonal clusters show confusion between visually similar signs, such and speed limit signs with similar shapes.</a:t>
            </a:r>
            <a:endParaRPr sz="2000" dirty="0">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a:extLst>
            <a:ext uri="{FF2B5EF4-FFF2-40B4-BE49-F238E27FC236}">
              <a16:creationId xmlns:a16="http://schemas.microsoft.com/office/drawing/2014/main" id="{6F61A134-D7D6-F90C-9773-02270A81EE70}"/>
            </a:ext>
          </a:extLst>
        </p:cNvPr>
        <p:cNvGrpSpPr/>
        <p:nvPr/>
      </p:nvGrpSpPr>
      <p:grpSpPr>
        <a:xfrm>
          <a:off x="0" y="0"/>
          <a:ext cx="0" cy="0"/>
          <a:chOff x="0" y="0"/>
          <a:chExt cx="0" cy="0"/>
        </a:xfrm>
      </p:grpSpPr>
      <p:sp>
        <p:nvSpPr>
          <p:cNvPr id="152" name="Google Shape;152;p23">
            <a:extLst>
              <a:ext uri="{FF2B5EF4-FFF2-40B4-BE49-F238E27FC236}">
                <a16:creationId xmlns:a16="http://schemas.microsoft.com/office/drawing/2014/main" id="{970080A8-DE6D-C6DF-F60B-0814CBD2C8A2}"/>
              </a:ext>
            </a:extLst>
          </p:cNvPr>
          <p:cNvSpPr txBox="1">
            <a:spLocks noGrp="1"/>
          </p:cNvSpPr>
          <p:nvPr>
            <p:ph type="title"/>
          </p:nvPr>
        </p:nvSpPr>
        <p:spPr>
          <a:xfrm>
            <a:off x="972600" y="1758200"/>
            <a:ext cx="3923100" cy="1404000"/>
          </a:xfrm>
          <a:prstGeom prst="rect">
            <a:avLst/>
          </a:prstGeom>
          <a:noFill/>
          <a:ln>
            <a:noFill/>
          </a:ln>
        </p:spPr>
        <p:txBody>
          <a:bodyPr spcFirstLastPara="1" wrap="square" lIns="121900" tIns="121900" rIns="121900" bIns="121900" anchor="t" anchorCtr="0">
            <a:normAutofit/>
          </a:bodyPr>
          <a:lstStyle/>
          <a:p>
            <a:r>
              <a:rPr lang="en-IN" dirty="0"/>
              <a:t>ResNet-18 performance (2)</a:t>
            </a:r>
          </a:p>
        </p:txBody>
      </p:sp>
      <p:sp>
        <p:nvSpPr>
          <p:cNvPr id="154" name="Google Shape;154;p23">
            <a:extLst>
              <a:ext uri="{FF2B5EF4-FFF2-40B4-BE49-F238E27FC236}">
                <a16:creationId xmlns:a16="http://schemas.microsoft.com/office/drawing/2014/main" id="{1F059198-5382-54B0-816C-A0A77CB06F53}"/>
              </a:ext>
            </a:extLst>
          </p:cNvPr>
          <p:cNvSpPr txBox="1"/>
          <p:nvPr/>
        </p:nvSpPr>
        <p:spPr>
          <a:xfrm>
            <a:off x="633663" y="2992855"/>
            <a:ext cx="5200800" cy="3131700"/>
          </a:xfrm>
          <a:prstGeom prst="rect">
            <a:avLst/>
          </a:prstGeom>
          <a:noFill/>
          <a:ln>
            <a:noFill/>
          </a:ln>
        </p:spPr>
        <p:txBody>
          <a:bodyPr spcFirstLastPara="1" wrap="square" lIns="91425" tIns="91425" rIns="91425" bIns="91425" anchor="t" anchorCtr="0">
            <a:noAutofit/>
          </a:bodyPr>
          <a:lstStyle/>
          <a:p>
            <a:pPr>
              <a:lnSpc>
                <a:spcPct val="90000"/>
              </a:lnSpc>
              <a:spcBef>
                <a:spcPts val="1000"/>
              </a:spcBef>
            </a:pPr>
            <a:r>
              <a:rPr lang="en-US" sz="2000" dirty="0">
                <a:solidFill>
                  <a:schemeClr val="accent1"/>
                </a:solidFill>
                <a:latin typeface="Lato"/>
                <a:ea typeface="Lato"/>
                <a:cs typeface="Lato"/>
              </a:rPr>
              <a:t>This confusion matrix shows a strong, dark diagonal, meaning ResNet-18 correctly classifies the vast majority of test images across all 43 classes. Most off-diagonal entries are very faint or empty, indicating only a small number of misclassified samples. The remaining errors are mainly between visually similar signs (for example, different speed-limit values or similar triangular warnings), which are challenging even for humans.</a:t>
            </a:r>
          </a:p>
        </p:txBody>
      </p:sp>
      <p:pic>
        <p:nvPicPr>
          <p:cNvPr id="3" name="Picture 2">
            <a:extLst>
              <a:ext uri="{FF2B5EF4-FFF2-40B4-BE49-F238E27FC236}">
                <a16:creationId xmlns:a16="http://schemas.microsoft.com/office/drawing/2014/main" id="{E5700710-9B1D-4B23-DDE3-415050FB23F1}"/>
              </a:ext>
            </a:extLst>
          </p:cNvPr>
          <p:cNvPicPr>
            <a:picLocks noChangeAspect="1"/>
          </p:cNvPicPr>
          <p:nvPr/>
        </p:nvPicPr>
        <p:blipFill>
          <a:blip r:embed="rId3"/>
          <a:stretch>
            <a:fillRect/>
          </a:stretch>
        </p:blipFill>
        <p:spPr>
          <a:xfrm>
            <a:off x="5775754" y="900749"/>
            <a:ext cx="6416246" cy="5596304"/>
          </a:xfrm>
          <a:prstGeom prst="rect">
            <a:avLst/>
          </a:prstGeom>
        </p:spPr>
      </p:pic>
    </p:spTree>
    <p:extLst>
      <p:ext uri="{BB962C8B-B14F-4D97-AF65-F5344CB8AC3E}">
        <p14:creationId xmlns:p14="http://schemas.microsoft.com/office/powerpoint/2010/main" val="2629417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111"/>
              <a:buNone/>
            </a:pPr>
            <a:r>
              <a:rPr lang="en-US" dirty="0"/>
              <a:t>Deep Learning model performance (2)</a:t>
            </a:r>
            <a:endParaRPr dirty="0"/>
          </a:p>
        </p:txBody>
      </p:sp>
      <p:sp>
        <p:nvSpPr>
          <p:cNvPr id="160" name="Google Shape;160;p24"/>
          <p:cNvSpPr txBox="1">
            <a:spLocks noGrp="1"/>
          </p:cNvSpPr>
          <p:nvPr>
            <p:ph type="body" idx="1"/>
          </p:nvPr>
        </p:nvSpPr>
        <p:spPr>
          <a:xfrm>
            <a:off x="1063500" y="2471900"/>
            <a:ext cx="5032500" cy="3952800"/>
          </a:xfrm>
          <a:prstGeom prst="rect">
            <a:avLst/>
          </a:prstGeom>
          <a:noFill/>
          <a:ln>
            <a:noFill/>
          </a:ln>
        </p:spPr>
        <p:txBody>
          <a:bodyPr spcFirstLastPara="1" wrap="square" lIns="121900" tIns="121900" rIns="121900" bIns="121900" anchor="t" anchorCtr="0">
            <a:normAutofit fontScale="70000" lnSpcReduction="20000"/>
          </a:bodyPr>
          <a:lstStyle/>
          <a:p>
            <a:pPr marL="120650" indent="0">
              <a:buNone/>
            </a:pPr>
            <a:r>
              <a:rPr lang="en-IN" sz="2000" b="1" dirty="0"/>
              <a:t>How did your deep learning model (2) perform?</a:t>
            </a:r>
            <a:endParaRPr lang="en-IN" sz="2000" dirty="0"/>
          </a:p>
          <a:p>
            <a:pPr marL="120650" indent="0">
              <a:buNone/>
            </a:pPr>
            <a:r>
              <a:rPr lang="en-IN" sz="2000" b="1" dirty="0"/>
              <a:t>Plain CNN</a:t>
            </a:r>
            <a:endParaRPr lang="en-IN" sz="2000" dirty="0"/>
          </a:p>
          <a:p>
            <a:r>
              <a:rPr lang="en-IN" sz="2000" dirty="0"/>
              <a:t>Test accuracy: </a:t>
            </a:r>
            <a:r>
              <a:rPr lang="en-IN" sz="2000" b="1" dirty="0"/>
              <a:t>~91–92%</a:t>
            </a:r>
            <a:endParaRPr lang="en-IN" sz="2000" dirty="0"/>
          </a:p>
          <a:p>
            <a:r>
              <a:rPr lang="en-IN" sz="2000" dirty="0"/>
              <a:t>Learns fast but </a:t>
            </a:r>
            <a:r>
              <a:rPr lang="en-IN" sz="2000" b="1" dirty="0"/>
              <a:t>overfits</a:t>
            </a:r>
            <a:r>
              <a:rPr lang="en-IN" sz="2000" dirty="0"/>
              <a:t> (train ≫ </a:t>
            </a:r>
            <a:r>
              <a:rPr lang="en-IN" sz="2000" dirty="0" err="1"/>
              <a:t>val</a:t>
            </a:r>
            <a:r>
              <a:rPr lang="en-IN" sz="2000" dirty="0"/>
              <a:t> accuracy)</a:t>
            </a:r>
          </a:p>
          <a:p>
            <a:r>
              <a:rPr lang="en-IN" sz="2000" dirty="0"/>
              <a:t>Confusion matrix shows good overall performance but many errors on </a:t>
            </a:r>
            <a:r>
              <a:rPr lang="en-IN" sz="2000" b="1" dirty="0"/>
              <a:t>visually similar signs</a:t>
            </a:r>
            <a:endParaRPr lang="en-IN" sz="2000" dirty="0"/>
          </a:p>
          <a:p>
            <a:pPr marL="120650" indent="0">
              <a:buNone/>
            </a:pPr>
            <a:r>
              <a:rPr lang="en-IN" sz="2000" b="1" dirty="0"/>
              <a:t>Regularized CNN</a:t>
            </a:r>
            <a:endParaRPr lang="en-IN" sz="2000" dirty="0"/>
          </a:p>
          <a:p>
            <a:r>
              <a:rPr lang="en-IN" sz="2000" dirty="0"/>
              <a:t>Test accuracy: </a:t>
            </a:r>
            <a:r>
              <a:rPr lang="en-IN" sz="2000" b="1" dirty="0"/>
              <a:t>~97%</a:t>
            </a:r>
            <a:endParaRPr lang="en-IN" sz="2000" dirty="0"/>
          </a:p>
          <a:p>
            <a:r>
              <a:rPr lang="en-IN" sz="2000" b="1" dirty="0"/>
              <a:t>BatchNorm, Dropout, Weight Decay</a:t>
            </a:r>
            <a:r>
              <a:rPr lang="en-IN" sz="2000" dirty="0"/>
              <a:t> reduce overfitting</a:t>
            </a:r>
          </a:p>
          <a:p>
            <a:r>
              <a:rPr lang="en-IN" sz="2000" dirty="0"/>
              <a:t>Cleaner confusion matrix with </a:t>
            </a:r>
            <a:r>
              <a:rPr lang="en-IN" sz="2000" b="1" dirty="0"/>
              <a:t>fewer off-diagonal errors</a:t>
            </a:r>
            <a:r>
              <a:rPr lang="en-IN" sz="2000" dirty="0"/>
              <a:t> and strong precision/recall</a:t>
            </a:r>
          </a:p>
          <a:p>
            <a:pPr marL="120650" indent="0">
              <a:buNone/>
            </a:pPr>
            <a:r>
              <a:rPr lang="en-IN" sz="2000" b="1" dirty="0"/>
              <a:t>ResNet-18 (Transfer Learning – Extension)</a:t>
            </a:r>
            <a:endParaRPr lang="en-IN" sz="2000" dirty="0"/>
          </a:p>
          <a:p>
            <a:r>
              <a:rPr lang="en-IN" sz="2000" dirty="0"/>
              <a:t>Test accuracy: </a:t>
            </a:r>
            <a:r>
              <a:rPr lang="en-IN" sz="2000" b="1" dirty="0"/>
              <a:t>~98.9%</a:t>
            </a:r>
            <a:endParaRPr lang="en-IN" sz="2000" dirty="0"/>
          </a:p>
          <a:p>
            <a:r>
              <a:rPr lang="en-IN" sz="2000" b="1" dirty="0"/>
              <a:t>Pretrained on ImageNet</a:t>
            </a:r>
            <a:r>
              <a:rPr lang="en-IN" sz="2000" dirty="0"/>
              <a:t>, then fine-tuned on GTSRB</a:t>
            </a:r>
          </a:p>
          <a:p>
            <a:r>
              <a:rPr lang="en-IN" sz="2000" dirty="0"/>
              <a:t>Very dark diagonal in confusion matrix; remaining errors mostly between </a:t>
            </a:r>
            <a:r>
              <a:rPr lang="en-IN" sz="2000" b="1" dirty="0"/>
              <a:t>extremely similar signs</a:t>
            </a:r>
            <a:endParaRPr lang="en-IN" sz="2000" dirty="0"/>
          </a:p>
          <a:p>
            <a:pPr marL="120650" indent="0">
              <a:buNone/>
            </a:pPr>
            <a:r>
              <a:rPr lang="en-IN" sz="2000" dirty="0"/>
              <a:t>Overall: going from plain CNN → regularized CNN → ResNet-18 steadily improves accuracy and generalization.</a:t>
            </a:r>
          </a:p>
        </p:txBody>
      </p:sp>
      <p:sp>
        <p:nvSpPr>
          <p:cNvPr id="161" name="Google Shape;161;p24"/>
          <p:cNvSpPr txBox="1">
            <a:spLocks noGrp="1"/>
          </p:cNvSpPr>
          <p:nvPr>
            <p:ph type="body" idx="2"/>
          </p:nvPr>
        </p:nvSpPr>
        <p:spPr>
          <a:xfrm>
            <a:off x="6408044" y="2409701"/>
            <a:ext cx="5032500" cy="3952800"/>
          </a:xfrm>
          <a:prstGeom prst="rect">
            <a:avLst/>
          </a:prstGeom>
          <a:noFill/>
          <a:ln>
            <a:noFill/>
          </a:ln>
        </p:spPr>
        <p:txBody>
          <a:bodyPr spcFirstLastPara="1" wrap="square" lIns="121900" tIns="121900" rIns="121900" bIns="121900" anchor="t" anchorCtr="0">
            <a:normAutofit fontScale="92500" lnSpcReduction="20000"/>
          </a:bodyPr>
          <a:lstStyle/>
          <a:p>
            <a:pPr marL="120650" indent="0">
              <a:buNone/>
            </a:pPr>
            <a:r>
              <a:rPr lang="en-US" sz="2000" b="1" dirty="0"/>
              <a:t>What performance metric did you use?</a:t>
            </a:r>
            <a:br>
              <a:rPr lang="en-US" sz="2000" dirty="0"/>
            </a:br>
            <a:r>
              <a:rPr lang="en-US" sz="2000" dirty="0"/>
              <a:t>The primary metric for all deep learning models was </a:t>
            </a:r>
            <a:r>
              <a:rPr lang="en-US" sz="2000" b="1" dirty="0"/>
              <a:t>overall classification accuracy</a:t>
            </a:r>
            <a:r>
              <a:rPr lang="en-US" sz="2000" dirty="0"/>
              <a:t> on the GTSRB test set:</a:t>
            </a:r>
          </a:p>
          <a:p>
            <a:pPr marL="863600" lvl="1" indent="-285750"/>
            <a:r>
              <a:rPr lang="en-US" sz="1800" dirty="0"/>
              <a:t>Plain CNN: ~91–92%</a:t>
            </a:r>
          </a:p>
          <a:p>
            <a:pPr marL="863600" lvl="1" indent="-285750"/>
            <a:r>
              <a:rPr lang="en-US" sz="1800" dirty="0"/>
              <a:t>Regularized CNN: ~97%</a:t>
            </a:r>
          </a:p>
          <a:p>
            <a:pPr marL="863600" lvl="1" indent="-285750"/>
            <a:r>
              <a:rPr lang="en-US" sz="1800" dirty="0"/>
              <a:t>ResNet-18: ~98.9%</a:t>
            </a:r>
          </a:p>
          <a:p>
            <a:pPr marL="120650" indent="0">
              <a:buNone/>
            </a:pPr>
            <a:r>
              <a:rPr lang="en-US" sz="2000" dirty="0"/>
              <a:t>In addition to accuracy, we examined </a:t>
            </a:r>
            <a:r>
              <a:rPr lang="en-US" sz="2000" b="1" dirty="0"/>
              <a:t>precision, recall, and F1-score per class</a:t>
            </a:r>
            <a:r>
              <a:rPr lang="en-US" sz="2000" dirty="0"/>
              <a:t>, along with </a:t>
            </a:r>
            <a:r>
              <a:rPr lang="en-US" sz="2000" b="1" dirty="0"/>
              <a:t>confusion matrices</a:t>
            </a:r>
            <a:r>
              <a:rPr lang="en-US" sz="2000" dirty="0"/>
              <a:t> and </a:t>
            </a:r>
            <a:r>
              <a:rPr lang="en-US" sz="2000" b="1" dirty="0"/>
              <a:t>training vs validation learning curves</a:t>
            </a:r>
            <a:r>
              <a:rPr lang="en-US" sz="2000" dirty="0"/>
              <a:t> to analyze class-specific errors and overfitting behavior across the three architectures.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5"/>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111"/>
              <a:buNone/>
            </a:pPr>
            <a:r>
              <a:rPr lang="en-US" dirty="0"/>
              <a:t>Deep Learning model performance (2)</a:t>
            </a:r>
            <a:endParaRPr dirty="0"/>
          </a:p>
        </p:txBody>
      </p:sp>
      <p:pic>
        <p:nvPicPr>
          <p:cNvPr id="167" name="Google Shape;167;p25" title="plaincnnconfusionmatrix.png"/>
          <p:cNvPicPr preferRelativeResize="0"/>
          <p:nvPr/>
        </p:nvPicPr>
        <p:blipFill>
          <a:blip r:embed="rId3">
            <a:alphaModFix/>
          </a:blip>
          <a:stretch>
            <a:fillRect/>
          </a:stretch>
        </p:blipFill>
        <p:spPr>
          <a:xfrm>
            <a:off x="2659825" y="2471900"/>
            <a:ext cx="4492644" cy="4081301"/>
          </a:xfrm>
          <a:prstGeom prst="rect">
            <a:avLst/>
          </a:prstGeom>
          <a:noFill/>
          <a:ln>
            <a:noFill/>
          </a:ln>
        </p:spPr>
      </p:pic>
      <p:pic>
        <p:nvPicPr>
          <p:cNvPr id="168" name="Google Shape;168;p25" title="regularizedcnnconfusionmatrix.png"/>
          <p:cNvPicPr preferRelativeResize="0"/>
          <p:nvPr/>
        </p:nvPicPr>
        <p:blipFill>
          <a:blip r:embed="rId4">
            <a:alphaModFix/>
          </a:blip>
          <a:stretch>
            <a:fillRect/>
          </a:stretch>
        </p:blipFill>
        <p:spPr>
          <a:xfrm>
            <a:off x="7386969" y="2471900"/>
            <a:ext cx="4543333" cy="4081299"/>
          </a:xfrm>
          <a:prstGeom prst="rect">
            <a:avLst/>
          </a:prstGeom>
          <a:noFill/>
          <a:ln>
            <a:noFill/>
          </a:ln>
        </p:spPr>
      </p:pic>
      <p:sp>
        <p:nvSpPr>
          <p:cNvPr id="169" name="Google Shape;169;p25"/>
          <p:cNvSpPr txBox="1"/>
          <p:nvPr/>
        </p:nvSpPr>
        <p:spPr>
          <a:xfrm>
            <a:off x="331025" y="2279395"/>
            <a:ext cx="2094300" cy="379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700" b="1" dirty="0">
                <a:solidFill>
                  <a:schemeClr val="accent1"/>
                </a:solidFill>
                <a:latin typeface="Lato"/>
                <a:ea typeface="Lato"/>
                <a:cs typeface="Lato"/>
                <a:sym typeface="Lato"/>
              </a:rPr>
              <a:t>Plain CNN</a:t>
            </a:r>
            <a:endParaRPr sz="1700" b="1" dirty="0">
              <a:solidFill>
                <a:schemeClr val="accent1"/>
              </a:solidFill>
              <a:latin typeface="Lato"/>
              <a:ea typeface="Lato"/>
              <a:cs typeface="Lato"/>
              <a:sym typeface="Lato"/>
            </a:endParaRPr>
          </a:p>
          <a:p>
            <a:pPr marL="0" lvl="0" indent="0" algn="l" rtl="0">
              <a:spcBef>
                <a:spcPts val="0"/>
              </a:spcBef>
              <a:spcAft>
                <a:spcPts val="0"/>
              </a:spcAft>
              <a:buNone/>
            </a:pPr>
            <a:r>
              <a:rPr lang="en-US" sz="1300" dirty="0">
                <a:solidFill>
                  <a:schemeClr val="accent1"/>
                </a:solidFill>
                <a:latin typeface="Lato"/>
                <a:ea typeface="Lato"/>
                <a:cs typeface="Lato"/>
                <a:sym typeface="Lato"/>
              </a:rPr>
              <a:t>The diagonal is mostly strong, but there are still some faint off diagonal values, representing misclassifications. Certain classes with similar shapes or colors are frequently confused, resulting in mild overfitting.</a:t>
            </a:r>
            <a:endParaRPr sz="1300" dirty="0">
              <a:solidFill>
                <a:schemeClr val="accent1"/>
              </a:solidFill>
              <a:latin typeface="Lato"/>
              <a:ea typeface="Lato"/>
              <a:cs typeface="Lato"/>
              <a:sym typeface="Lato"/>
            </a:endParaRPr>
          </a:p>
          <a:p>
            <a:pPr marL="0" lvl="0" indent="0" algn="l" rtl="0">
              <a:spcBef>
                <a:spcPts val="0"/>
              </a:spcBef>
              <a:spcAft>
                <a:spcPts val="0"/>
              </a:spcAft>
              <a:buNone/>
            </a:pPr>
            <a:endParaRPr sz="1700" dirty="0">
              <a:solidFill>
                <a:schemeClr val="accent1"/>
              </a:solidFill>
              <a:latin typeface="Lato"/>
              <a:ea typeface="Lato"/>
              <a:cs typeface="Lato"/>
              <a:sym typeface="Lato"/>
            </a:endParaRPr>
          </a:p>
          <a:p>
            <a:pPr marL="0" lvl="0" indent="0" algn="l" rtl="0">
              <a:spcBef>
                <a:spcPts val="0"/>
              </a:spcBef>
              <a:spcAft>
                <a:spcPts val="0"/>
              </a:spcAft>
              <a:buNone/>
            </a:pPr>
            <a:r>
              <a:rPr lang="en-US" sz="1700" dirty="0">
                <a:solidFill>
                  <a:schemeClr val="accent1"/>
                </a:solidFill>
                <a:latin typeface="Lato"/>
                <a:ea typeface="Lato"/>
                <a:cs typeface="Lato"/>
                <a:sym typeface="Lato"/>
              </a:rPr>
              <a:t>Regularized CNN</a:t>
            </a:r>
            <a:endParaRPr sz="1700" dirty="0">
              <a:solidFill>
                <a:schemeClr val="accent1"/>
              </a:solidFill>
              <a:latin typeface="Lato"/>
              <a:ea typeface="Lato"/>
              <a:cs typeface="Lato"/>
              <a:sym typeface="Lato"/>
            </a:endParaRPr>
          </a:p>
          <a:p>
            <a:pPr marL="0" lvl="0" indent="0" algn="l" rtl="0">
              <a:spcBef>
                <a:spcPts val="0"/>
              </a:spcBef>
              <a:spcAft>
                <a:spcPts val="0"/>
              </a:spcAft>
              <a:buNone/>
            </a:pPr>
            <a:r>
              <a:rPr lang="en-US" sz="1300" dirty="0">
                <a:solidFill>
                  <a:schemeClr val="accent1"/>
                </a:solidFill>
                <a:latin typeface="Lato"/>
                <a:ea typeface="Lato"/>
                <a:cs typeface="Lato"/>
                <a:sym typeface="Lato"/>
              </a:rPr>
              <a:t>The diagonal is brighter and more consistent. Most off diagonal errors are very faint or missing. This indicates fewer misclassifications and that its regularization improves generalization.</a:t>
            </a:r>
            <a:endParaRPr sz="1300" dirty="0">
              <a:solidFill>
                <a:schemeClr val="accen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6"/>
          <p:cNvSpPr txBox="1">
            <a:spLocks noGrp="1"/>
          </p:cNvSpPr>
          <p:nvPr>
            <p:ph type="title"/>
          </p:nvPr>
        </p:nvSpPr>
        <p:spPr>
          <a:xfrm>
            <a:off x="970350" y="767600"/>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111"/>
              <a:buNone/>
            </a:pPr>
            <a:r>
              <a:rPr lang="en-US"/>
              <a:t>Deep Learning model performance (2)</a:t>
            </a:r>
            <a:endParaRPr/>
          </a:p>
        </p:txBody>
      </p:sp>
      <p:sp>
        <p:nvSpPr>
          <p:cNvPr id="175" name="Google Shape;175;p26"/>
          <p:cNvSpPr txBox="1"/>
          <p:nvPr/>
        </p:nvSpPr>
        <p:spPr>
          <a:xfrm>
            <a:off x="350075" y="1748000"/>
            <a:ext cx="5231700" cy="530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accent1"/>
                </a:solidFill>
                <a:latin typeface="Lato"/>
                <a:ea typeface="Lato"/>
                <a:cs typeface="Lato"/>
                <a:sym typeface="Lato"/>
              </a:rPr>
              <a:t>These four plots visualize how each model learns over time by showing loss and accuracy on both the training set and the validation set across 20 epochs.</a:t>
            </a:r>
            <a:endParaRPr sz="1600">
              <a:solidFill>
                <a:schemeClr val="accent1"/>
              </a:solidFill>
              <a:latin typeface="Lato"/>
              <a:ea typeface="Lato"/>
              <a:cs typeface="Lato"/>
              <a:sym typeface="Lato"/>
            </a:endParaRPr>
          </a:p>
          <a:p>
            <a:pPr marL="0" lvl="0" indent="0" algn="l" rtl="0">
              <a:spcBef>
                <a:spcPts val="0"/>
              </a:spcBef>
              <a:spcAft>
                <a:spcPts val="0"/>
              </a:spcAft>
              <a:buNone/>
            </a:pPr>
            <a:endParaRPr sz="1700">
              <a:solidFill>
                <a:schemeClr val="accent1"/>
              </a:solidFill>
              <a:latin typeface="Lato"/>
              <a:ea typeface="Lato"/>
              <a:cs typeface="Lato"/>
              <a:sym typeface="Lato"/>
            </a:endParaRPr>
          </a:p>
          <a:p>
            <a:pPr marL="0" lvl="0" indent="0" algn="l" rtl="0">
              <a:spcBef>
                <a:spcPts val="0"/>
              </a:spcBef>
              <a:spcAft>
                <a:spcPts val="0"/>
              </a:spcAft>
              <a:buNone/>
            </a:pPr>
            <a:r>
              <a:rPr lang="en-US" sz="1700" b="1">
                <a:solidFill>
                  <a:schemeClr val="accent1"/>
                </a:solidFill>
                <a:latin typeface="Lato"/>
                <a:ea typeface="Lato"/>
                <a:cs typeface="Lato"/>
                <a:sym typeface="Lato"/>
              </a:rPr>
              <a:t>Plain CNN</a:t>
            </a:r>
            <a:endParaRPr sz="1700" b="1">
              <a:solidFill>
                <a:schemeClr val="accent1"/>
              </a:solidFill>
              <a:latin typeface="Lato"/>
              <a:ea typeface="Lato"/>
              <a:cs typeface="Lato"/>
              <a:sym typeface="Lato"/>
            </a:endParaRPr>
          </a:p>
          <a:p>
            <a:pPr marL="457200" lvl="0" indent="-323850" algn="l" rtl="0">
              <a:spcBef>
                <a:spcPts val="0"/>
              </a:spcBef>
              <a:spcAft>
                <a:spcPts val="0"/>
              </a:spcAft>
              <a:buClr>
                <a:schemeClr val="accent1"/>
              </a:buClr>
              <a:buSzPts val="1500"/>
              <a:buFont typeface="Lato"/>
              <a:buChar char="●"/>
            </a:pPr>
            <a:r>
              <a:rPr lang="en-US" sz="1300">
                <a:solidFill>
                  <a:schemeClr val="accent1"/>
                </a:solidFill>
                <a:latin typeface="Lato"/>
                <a:ea typeface="Lato"/>
                <a:cs typeface="Lato"/>
                <a:sym typeface="Lato"/>
              </a:rPr>
              <a:t>Training loss drops to almost zero, showing the model memorizes the training data</a:t>
            </a:r>
            <a:endParaRPr sz="1300">
              <a:solidFill>
                <a:schemeClr val="accent1"/>
              </a:solidFill>
              <a:latin typeface="Lato"/>
              <a:ea typeface="Lato"/>
              <a:cs typeface="Lato"/>
              <a:sym typeface="Lato"/>
            </a:endParaRPr>
          </a:p>
          <a:p>
            <a:pPr marL="457200" lvl="0" indent="-311150" algn="l" rtl="0">
              <a:spcBef>
                <a:spcPts val="0"/>
              </a:spcBef>
              <a:spcAft>
                <a:spcPts val="0"/>
              </a:spcAft>
              <a:buClr>
                <a:schemeClr val="accent1"/>
              </a:buClr>
              <a:buSzPts val="1300"/>
              <a:buFont typeface="Lato"/>
              <a:buChar char="●"/>
            </a:pPr>
            <a:r>
              <a:rPr lang="en-US" sz="1300">
                <a:solidFill>
                  <a:schemeClr val="accent1"/>
                </a:solidFill>
                <a:latin typeface="Lato"/>
                <a:ea typeface="Lato"/>
                <a:cs typeface="Lato"/>
                <a:sym typeface="Lato"/>
              </a:rPr>
              <a:t>Validation loss decreases initially but then flattens and fluctuates, indicating that the model is not improving on unseen data</a:t>
            </a:r>
            <a:endParaRPr sz="1300">
              <a:solidFill>
                <a:schemeClr val="accent1"/>
              </a:solidFill>
              <a:latin typeface="Lato"/>
              <a:ea typeface="Lato"/>
              <a:cs typeface="Lato"/>
              <a:sym typeface="Lato"/>
            </a:endParaRPr>
          </a:p>
          <a:p>
            <a:pPr marL="457200" lvl="0" indent="-311150" algn="l" rtl="0">
              <a:spcBef>
                <a:spcPts val="0"/>
              </a:spcBef>
              <a:spcAft>
                <a:spcPts val="0"/>
              </a:spcAft>
              <a:buClr>
                <a:schemeClr val="accent1"/>
              </a:buClr>
              <a:buSzPts val="1300"/>
              <a:buFont typeface="Lato"/>
              <a:buChar char="●"/>
            </a:pPr>
            <a:r>
              <a:rPr lang="en-US" sz="1300">
                <a:solidFill>
                  <a:schemeClr val="accent1"/>
                </a:solidFill>
                <a:latin typeface="Lato"/>
                <a:ea typeface="Lato"/>
                <a:cs typeface="Lato"/>
                <a:sym typeface="Lato"/>
              </a:rPr>
              <a:t>Training accuracy reaches ~100%, but validation accuracy stays slightly lower at ~99%</a:t>
            </a:r>
            <a:endParaRPr sz="1300">
              <a:solidFill>
                <a:schemeClr val="accent1"/>
              </a:solidFill>
              <a:latin typeface="Lato"/>
              <a:ea typeface="Lato"/>
              <a:cs typeface="Lato"/>
              <a:sym typeface="Lato"/>
            </a:endParaRPr>
          </a:p>
          <a:p>
            <a:pPr marL="457200" lvl="0" indent="-311150" algn="l" rtl="0">
              <a:spcBef>
                <a:spcPts val="0"/>
              </a:spcBef>
              <a:spcAft>
                <a:spcPts val="0"/>
              </a:spcAft>
              <a:buClr>
                <a:schemeClr val="accent1"/>
              </a:buClr>
              <a:buSzPts val="1300"/>
              <a:buFont typeface="Lato"/>
              <a:buChar char="●"/>
            </a:pPr>
            <a:r>
              <a:rPr lang="en-US" sz="1300">
                <a:solidFill>
                  <a:schemeClr val="accent1"/>
                </a:solidFill>
                <a:latin typeface="Lato"/>
                <a:ea typeface="Lato"/>
                <a:cs typeface="Lato"/>
                <a:sym typeface="Lato"/>
              </a:rPr>
              <a:t>This gap between training and validation curves indicates overfitting</a:t>
            </a:r>
            <a:endParaRPr sz="1300">
              <a:solidFill>
                <a:schemeClr val="accent1"/>
              </a:solidFill>
              <a:latin typeface="Lato"/>
              <a:ea typeface="Lato"/>
              <a:cs typeface="Lato"/>
              <a:sym typeface="Lato"/>
            </a:endParaRPr>
          </a:p>
          <a:p>
            <a:pPr marL="0" lvl="0" indent="0" algn="l" rtl="0">
              <a:spcBef>
                <a:spcPts val="0"/>
              </a:spcBef>
              <a:spcAft>
                <a:spcPts val="0"/>
              </a:spcAft>
              <a:buNone/>
            </a:pPr>
            <a:br>
              <a:rPr lang="en-US" sz="1700" b="1">
                <a:solidFill>
                  <a:schemeClr val="accent1"/>
                </a:solidFill>
                <a:latin typeface="Lato"/>
                <a:ea typeface="Lato"/>
                <a:cs typeface="Lato"/>
                <a:sym typeface="Lato"/>
              </a:rPr>
            </a:br>
            <a:r>
              <a:rPr lang="en-US" sz="1700" b="1">
                <a:solidFill>
                  <a:schemeClr val="accent1"/>
                </a:solidFill>
                <a:latin typeface="Lato"/>
                <a:ea typeface="Lato"/>
                <a:cs typeface="Lato"/>
                <a:sym typeface="Lato"/>
              </a:rPr>
              <a:t>Regularized CNN</a:t>
            </a:r>
            <a:endParaRPr sz="1700" b="1">
              <a:solidFill>
                <a:schemeClr val="accent1"/>
              </a:solidFill>
              <a:latin typeface="Lato"/>
              <a:ea typeface="Lato"/>
              <a:cs typeface="Lato"/>
              <a:sym typeface="Lato"/>
            </a:endParaRPr>
          </a:p>
          <a:p>
            <a:pPr marL="457200" lvl="0" indent="-311150" algn="l" rtl="0">
              <a:spcBef>
                <a:spcPts val="0"/>
              </a:spcBef>
              <a:spcAft>
                <a:spcPts val="0"/>
              </a:spcAft>
              <a:buClr>
                <a:schemeClr val="accent1"/>
              </a:buClr>
              <a:buSzPts val="1300"/>
              <a:buFont typeface="Lato"/>
              <a:buChar char="●"/>
            </a:pPr>
            <a:r>
              <a:rPr lang="en-US" sz="1300">
                <a:solidFill>
                  <a:schemeClr val="accent1"/>
                </a:solidFill>
                <a:latin typeface="Lato"/>
                <a:ea typeface="Lato"/>
                <a:cs typeface="Lato"/>
                <a:sym typeface="Lato"/>
              </a:rPr>
              <a:t>Training and validation loss curves are tightly aligned, with both steadily decreasing</a:t>
            </a:r>
            <a:endParaRPr sz="1300">
              <a:solidFill>
                <a:schemeClr val="accent1"/>
              </a:solidFill>
              <a:latin typeface="Lato"/>
              <a:ea typeface="Lato"/>
              <a:cs typeface="Lato"/>
              <a:sym typeface="Lato"/>
            </a:endParaRPr>
          </a:p>
          <a:p>
            <a:pPr marL="457200" lvl="0" indent="-311150" algn="l" rtl="0">
              <a:spcBef>
                <a:spcPts val="0"/>
              </a:spcBef>
              <a:spcAft>
                <a:spcPts val="0"/>
              </a:spcAft>
              <a:buClr>
                <a:schemeClr val="accent1"/>
              </a:buClr>
              <a:buSzPts val="1300"/>
              <a:buFont typeface="Lato"/>
              <a:buChar char="●"/>
            </a:pPr>
            <a:r>
              <a:rPr lang="en-US" sz="1300">
                <a:solidFill>
                  <a:schemeClr val="accent1"/>
                </a:solidFill>
                <a:latin typeface="Lato"/>
                <a:ea typeface="Lato"/>
                <a:cs typeface="Lato"/>
                <a:sym typeface="Lato"/>
              </a:rPr>
              <a:t>Training and validation accuracy rise together and remain very close throughout training</a:t>
            </a:r>
            <a:endParaRPr sz="1300">
              <a:solidFill>
                <a:schemeClr val="accent1"/>
              </a:solidFill>
              <a:latin typeface="Lato"/>
              <a:ea typeface="Lato"/>
              <a:cs typeface="Lato"/>
              <a:sym typeface="Lato"/>
            </a:endParaRPr>
          </a:p>
          <a:p>
            <a:pPr marL="457200" lvl="0" indent="-311150" algn="l" rtl="0">
              <a:spcBef>
                <a:spcPts val="0"/>
              </a:spcBef>
              <a:spcAft>
                <a:spcPts val="0"/>
              </a:spcAft>
              <a:buClr>
                <a:schemeClr val="accent1"/>
              </a:buClr>
              <a:buSzPts val="1300"/>
              <a:buFont typeface="Lato"/>
              <a:buChar char="●"/>
            </a:pPr>
            <a:r>
              <a:rPr lang="en-US" sz="1300">
                <a:solidFill>
                  <a:schemeClr val="accent1"/>
                </a:solidFill>
                <a:latin typeface="Lato"/>
                <a:ea typeface="Lato"/>
                <a:cs typeface="Lato"/>
                <a:sym typeface="Lato"/>
              </a:rPr>
              <a:t>Validation accuracy reaches ~99.6%, even slightly higher than training accuracy early on, showing stable and well regularized learning</a:t>
            </a:r>
            <a:endParaRPr sz="1300">
              <a:solidFill>
                <a:schemeClr val="accent1"/>
              </a:solidFill>
              <a:latin typeface="Lato"/>
              <a:ea typeface="Lato"/>
              <a:cs typeface="Lato"/>
              <a:sym typeface="Lato"/>
            </a:endParaRPr>
          </a:p>
        </p:txBody>
      </p:sp>
      <p:pic>
        <p:nvPicPr>
          <p:cNvPr id="176" name="Google Shape;176;p26" title="plaincnncurves.png"/>
          <p:cNvPicPr preferRelativeResize="0"/>
          <p:nvPr/>
        </p:nvPicPr>
        <p:blipFill>
          <a:blip r:embed="rId3">
            <a:alphaModFix/>
          </a:blip>
          <a:stretch>
            <a:fillRect/>
          </a:stretch>
        </p:blipFill>
        <p:spPr>
          <a:xfrm>
            <a:off x="5659925" y="2286237"/>
            <a:ext cx="5561725" cy="2100184"/>
          </a:xfrm>
          <a:prstGeom prst="rect">
            <a:avLst/>
          </a:prstGeom>
          <a:noFill/>
          <a:ln>
            <a:noFill/>
          </a:ln>
        </p:spPr>
      </p:pic>
      <p:pic>
        <p:nvPicPr>
          <p:cNvPr id="177" name="Google Shape;177;p26" title="regularizedcnncurves.png"/>
          <p:cNvPicPr preferRelativeResize="0"/>
          <p:nvPr/>
        </p:nvPicPr>
        <p:blipFill>
          <a:blip r:embed="rId4">
            <a:alphaModFix/>
          </a:blip>
          <a:stretch>
            <a:fillRect/>
          </a:stretch>
        </p:blipFill>
        <p:spPr>
          <a:xfrm>
            <a:off x="5659925" y="4576913"/>
            <a:ext cx="5561731" cy="214773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71B3FD02-9996-A4A2-0141-C30FD2339651}"/>
            </a:ext>
          </a:extLst>
        </p:cNvPr>
        <p:cNvGrpSpPr/>
        <p:nvPr/>
      </p:nvGrpSpPr>
      <p:grpSpPr>
        <a:xfrm>
          <a:off x="0" y="0"/>
          <a:ext cx="0" cy="0"/>
          <a:chOff x="0" y="0"/>
          <a:chExt cx="0" cy="0"/>
        </a:xfrm>
      </p:grpSpPr>
      <p:sp>
        <p:nvSpPr>
          <p:cNvPr id="166" name="Google Shape;166;p25">
            <a:extLst>
              <a:ext uri="{FF2B5EF4-FFF2-40B4-BE49-F238E27FC236}">
                <a16:creationId xmlns:a16="http://schemas.microsoft.com/office/drawing/2014/main" id="{F4AC3B01-7818-17FA-EDE8-24CD43B27867}"/>
              </a:ext>
            </a:extLst>
          </p:cNvPr>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111"/>
              <a:buNone/>
            </a:pPr>
            <a:r>
              <a:rPr lang="en-US"/>
              <a:t>Deep Learning model performance (3)</a:t>
            </a:r>
            <a:endParaRPr lang="en-US" dirty="0"/>
          </a:p>
        </p:txBody>
      </p:sp>
      <p:sp>
        <p:nvSpPr>
          <p:cNvPr id="169" name="Google Shape;169;p25">
            <a:extLst>
              <a:ext uri="{FF2B5EF4-FFF2-40B4-BE49-F238E27FC236}">
                <a16:creationId xmlns:a16="http://schemas.microsoft.com/office/drawing/2014/main" id="{42B876FA-010E-5A24-444C-6ECFE65D2833}"/>
              </a:ext>
            </a:extLst>
          </p:cNvPr>
          <p:cNvSpPr txBox="1"/>
          <p:nvPr/>
        </p:nvSpPr>
        <p:spPr>
          <a:xfrm>
            <a:off x="972600" y="2486801"/>
            <a:ext cx="4417531" cy="3798600"/>
          </a:xfrm>
          <a:prstGeom prst="rect">
            <a:avLst/>
          </a:prstGeom>
          <a:noFill/>
          <a:ln>
            <a:noFill/>
          </a:ln>
        </p:spPr>
        <p:txBody>
          <a:bodyPr spcFirstLastPara="1" wrap="square" lIns="91425" tIns="91425" rIns="91425" bIns="91425" anchor="t" anchorCtr="0">
            <a:noAutofit/>
          </a:bodyPr>
          <a:lstStyle/>
          <a:p>
            <a:r>
              <a:rPr lang="en-US" sz="1700" b="1" dirty="0">
                <a:solidFill>
                  <a:schemeClr val="accent1"/>
                </a:solidFill>
                <a:latin typeface="Lato"/>
                <a:ea typeface="Lato"/>
                <a:cs typeface="Lato"/>
              </a:rPr>
              <a:t>ResNet-18 (Transfer Learning – Extension)</a:t>
            </a:r>
            <a:br>
              <a:rPr lang="en-US" sz="1700" b="1" dirty="0">
                <a:solidFill>
                  <a:schemeClr val="accent1"/>
                </a:solidFill>
                <a:latin typeface="Lato"/>
                <a:ea typeface="Lato"/>
                <a:cs typeface="Lato"/>
              </a:rPr>
            </a:br>
            <a:r>
              <a:rPr lang="en-US" sz="1700" b="1" dirty="0">
                <a:solidFill>
                  <a:schemeClr val="accent1"/>
                </a:solidFill>
                <a:latin typeface="Lato"/>
                <a:ea typeface="Lato"/>
                <a:cs typeface="Lato"/>
              </a:rPr>
              <a:t>The confusion matrix for ResNet-18 shows a very strong, dark diagonal, meaning the model correctly classifies almost all samples across all 43 classes. Most off-diagonal cells are empty or extremely faint, indicating only a few misclassifications.</a:t>
            </a:r>
            <a:br>
              <a:rPr lang="en-US" sz="1700" b="1" dirty="0">
                <a:solidFill>
                  <a:schemeClr val="accent1"/>
                </a:solidFill>
                <a:latin typeface="Lato"/>
                <a:ea typeface="Lato"/>
                <a:cs typeface="Lato"/>
              </a:rPr>
            </a:br>
            <a:r>
              <a:rPr lang="en-US" sz="1700" b="1" dirty="0">
                <a:solidFill>
                  <a:schemeClr val="accent1"/>
                </a:solidFill>
                <a:latin typeface="Lato"/>
                <a:ea typeface="Lato"/>
                <a:cs typeface="Lato"/>
              </a:rPr>
              <a:t>The remaining mistakes mostly occur between visually very similar signs (for example, different speed-limit values or similar triangular warnings), confirming that ResNet-18 provides the best overall accuracy and generalization among all models in this project.</a:t>
            </a:r>
            <a:endParaRPr lang="en-US" sz="1700" b="1" dirty="0">
              <a:solidFill>
                <a:schemeClr val="accent1"/>
              </a:solidFill>
              <a:latin typeface="Lato"/>
              <a:ea typeface="Lato"/>
              <a:cs typeface="Lato"/>
              <a:sym typeface="Lato"/>
            </a:endParaRPr>
          </a:p>
        </p:txBody>
      </p:sp>
      <p:pic>
        <p:nvPicPr>
          <p:cNvPr id="5" name="Picture 4">
            <a:extLst>
              <a:ext uri="{FF2B5EF4-FFF2-40B4-BE49-F238E27FC236}">
                <a16:creationId xmlns:a16="http://schemas.microsoft.com/office/drawing/2014/main" id="{568077DD-5976-BB6B-6838-3D33B70CF6F9}"/>
              </a:ext>
            </a:extLst>
          </p:cNvPr>
          <p:cNvPicPr>
            <a:picLocks noChangeAspect="1"/>
          </p:cNvPicPr>
          <p:nvPr/>
        </p:nvPicPr>
        <p:blipFill>
          <a:blip r:embed="rId3"/>
          <a:stretch>
            <a:fillRect/>
          </a:stretch>
        </p:blipFill>
        <p:spPr>
          <a:xfrm>
            <a:off x="6096001" y="2363615"/>
            <a:ext cx="4855011" cy="4332834"/>
          </a:xfrm>
          <a:prstGeom prst="rect">
            <a:avLst/>
          </a:prstGeom>
        </p:spPr>
      </p:pic>
    </p:spTree>
    <p:extLst>
      <p:ext uri="{BB962C8B-B14F-4D97-AF65-F5344CB8AC3E}">
        <p14:creationId xmlns:p14="http://schemas.microsoft.com/office/powerpoint/2010/main" val="3843035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6"/>
          <p:cNvSpPr txBox="1">
            <a:spLocks noGrp="1"/>
          </p:cNvSpPr>
          <p:nvPr>
            <p:ph type="title"/>
          </p:nvPr>
        </p:nvSpPr>
        <p:spPr>
          <a:xfrm>
            <a:off x="970350" y="767600"/>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111"/>
              <a:buNone/>
            </a:pPr>
            <a:r>
              <a:rPr lang="en-US" dirty="0"/>
              <a:t>Deep Learning model performance (2)</a:t>
            </a:r>
            <a:endParaRPr dirty="0"/>
          </a:p>
        </p:txBody>
      </p:sp>
      <p:sp>
        <p:nvSpPr>
          <p:cNvPr id="175" name="Google Shape;175;p26"/>
          <p:cNvSpPr txBox="1"/>
          <p:nvPr/>
        </p:nvSpPr>
        <p:spPr>
          <a:xfrm>
            <a:off x="350075" y="1748000"/>
            <a:ext cx="5231700" cy="5300400"/>
          </a:xfrm>
          <a:prstGeom prst="rect">
            <a:avLst/>
          </a:prstGeom>
          <a:noFill/>
          <a:ln>
            <a:noFill/>
          </a:ln>
        </p:spPr>
        <p:txBody>
          <a:bodyPr spcFirstLastPara="1" wrap="square" lIns="91425" tIns="91425" rIns="91425" bIns="91425" anchor="t" anchorCtr="0">
            <a:noAutofit/>
          </a:bodyPr>
          <a:lstStyle/>
          <a:p>
            <a:r>
              <a:rPr lang="en-US" sz="1700" b="1" dirty="0">
                <a:solidFill>
                  <a:schemeClr val="accent1"/>
                </a:solidFill>
                <a:latin typeface="Lato"/>
                <a:ea typeface="Lato"/>
                <a:cs typeface="Lato"/>
              </a:rPr>
              <a:t>These plots show training/validation curves and the confusion matrix for the ResNet-18 model fine-tuned on GTSRB.</a:t>
            </a:r>
          </a:p>
          <a:p>
            <a:pPr marL="0" lvl="0" indent="0" algn="l" rtl="0">
              <a:spcBef>
                <a:spcPts val="0"/>
              </a:spcBef>
              <a:spcAft>
                <a:spcPts val="0"/>
              </a:spcAft>
              <a:buNone/>
            </a:pPr>
            <a:endParaRPr sz="1700" b="1" dirty="0">
              <a:solidFill>
                <a:schemeClr val="accent1"/>
              </a:solidFill>
              <a:latin typeface="Lato"/>
              <a:ea typeface="Lato"/>
              <a:cs typeface="Lato"/>
              <a:sym typeface="Lato"/>
            </a:endParaRPr>
          </a:p>
          <a:p>
            <a:r>
              <a:rPr lang="en-US" sz="1700" b="1" dirty="0">
                <a:solidFill>
                  <a:schemeClr val="accent1"/>
                </a:solidFill>
                <a:latin typeface="Lato"/>
                <a:ea typeface="Lato"/>
                <a:cs typeface="Lato"/>
              </a:rPr>
              <a:t>ResNet-18 (Transfer Learning)</a:t>
            </a:r>
          </a:p>
          <a:p>
            <a:r>
              <a:rPr lang="en-US" sz="1700" b="1" dirty="0">
                <a:solidFill>
                  <a:schemeClr val="accent1"/>
                </a:solidFill>
                <a:latin typeface="Lato"/>
                <a:ea typeface="Lato"/>
                <a:cs typeface="Lato"/>
              </a:rPr>
              <a:t>Train and validation loss/accuracy curves stay very close, with only a small gap → mild overfitting and strong generalization</a:t>
            </a:r>
          </a:p>
          <a:p>
            <a:r>
              <a:rPr lang="en-US" sz="1700" b="1" dirty="0">
                <a:solidFill>
                  <a:schemeClr val="accent1"/>
                </a:solidFill>
                <a:latin typeface="Lato"/>
                <a:ea typeface="Lato"/>
                <a:cs typeface="Lato"/>
              </a:rPr>
              <a:t>Validation accuracy stabilizes around ~98–99%</a:t>
            </a:r>
          </a:p>
          <a:p>
            <a:r>
              <a:rPr lang="en-US" sz="1700" b="1" dirty="0">
                <a:solidFill>
                  <a:schemeClr val="accent1"/>
                </a:solidFill>
                <a:latin typeface="Lato"/>
                <a:ea typeface="Lato"/>
                <a:cs typeface="Lato"/>
              </a:rPr>
              <a:t>The confusion matrix has a very dark diagonal and only a few faint off-diagonal entries</a:t>
            </a:r>
          </a:p>
          <a:p>
            <a:r>
              <a:rPr lang="en-US" sz="1700" b="1" dirty="0">
                <a:solidFill>
                  <a:schemeClr val="accent1"/>
                </a:solidFill>
                <a:latin typeface="Lato"/>
                <a:ea typeface="Lato"/>
                <a:cs typeface="Lato"/>
              </a:rPr>
              <a:t>Remaining mistakes are mainly between extremely similar signs (e.g., nearby speed-limit values)</a:t>
            </a:r>
          </a:p>
          <a:p>
            <a:r>
              <a:rPr lang="en-US" sz="1700" b="1" dirty="0">
                <a:solidFill>
                  <a:schemeClr val="accent1"/>
                </a:solidFill>
                <a:latin typeface="Lato"/>
                <a:ea typeface="Lato"/>
                <a:cs typeface="Lato"/>
              </a:rPr>
              <a:t>Overall, ResNet-18 is the best-performing model in the project, combining high accuracy with stable training behavior.</a:t>
            </a:r>
          </a:p>
        </p:txBody>
      </p:sp>
      <p:pic>
        <p:nvPicPr>
          <p:cNvPr id="3" name="Picture 2">
            <a:extLst>
              <a:ext uri="{FF2B5EF4-FFF2-40B4-BE49-F238E27FC236}">
                <a16:creationId xmlns:a16="http://schemas.microsoft.com/office/drawing/2014/main" id="{FF224538-CCAA-604B-E792-115068F7D350}"/>
              </a:ext>
            </a:extLst>
          </p:cNvPr>
          <p:cNvPicPr>
            <a:picLocks noChangeAspect="1"/>
          </p:cNvPicPr>
          <p:nvPr/>
        </p:nvPicPr>
        <p:blipFill>
          <a:blip r:embed="rId3"/>
          <a:stretch>
            <a:fillRect/>
          </a:stretch>
        </p:blipFill>
        <p:spPr>
          <a:xfrm>
            <a:off x="5665996" y="2141621"/>
            <a:ext cx="6418314" cy="28635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FBA0-98C7-77F2-2B51-2913CDD99293}"/>
              </a:ext>
            </a:extLst>
          </p:cNvPr>
          <p:cNvSpPr>
            <a:spLocks noGrp="1"/>
          </p:cNvSpPr>
          <p:nvPr>
            <p:ph type="title"/>
          </p:nvPr>
        </p:nvSpPr>
        <p:spPr/>
        <p:txBody>
          <a:bodyPr>
            <a:normAutofit fontScale="90000"/>
          </a:bodyPr>
          <a:lstStyle/>
          <a:p>
            <a:r>
              <a:rPr lang="en-IN" dirty="0"/>
              <a:t>Error Analysis &amp; Explainability (ResNet-18)</a:t>
            </a:r>
          </a:p>
        </p:txBody>
      </p:sp>
      <p:sp>
        <p:nvSpPr>
          <p:cNvPr id="3" name="Text Placeholder 2">
            <a:extLst>
              <a:ext uri="{FF2B5EF4-FFF2-40B4-BE49-F238E27FC236}">
                <a16:creationId xmlns:a16="http://schemas.microsoft.com/office/drawing/2014/main" id="{9C445ECC-EE83-D98A-F8A3-AA26094B009D}"/>
              </a:ext>
            </a:extLst>
          </p:cNvPr>
          <p:cNvSpPr>
            <a:spLocks noGrp="1"/>
          </p:cNvSpPr>
          <p:nvPr>
            <p:ph type="body" idx="1"/>
          </p:nvPr>
        </p:nvSpPr>
        <p:spPr>
          <a:xfrm>
            <a:off x="972600" y="2663549"/>
            <a:ext cx="6222284" cy="3014700"/>
          </a:xfrm>
        </p:spPr>
        <p:txBody>
          <a:bodyPr>
            <a:normAutofit fontScale="85000" lnSpcReduction="20000"/>
          </a:bodyPr>
          <a:lstStyle/>
          <a:p>
            <a:pPr marL="120650" indent="0">
              <a:buNone/>
            </a:pPr>
            <a:r>
              <a:rPr lang="en-US" b="1" dirty="0"/>
              <a:t>What does Grad-CAM show?</a:t>
            </a:r>
            <a:endParaRPr lang="en-US" dirty="0"/>
          </a:p>
          <a:p>
            <a:r>
              <a:rPr lang="en-US" dirty="0"/>
              <a:t>Highlights </a:t>
            </a:r>
            <a:r>
              <a:rPr lang="en-US" b="1" dirty="0"/>
              <a:t>where</a:t>
            </a:r>
            <a:r>
              <a:rPr lang="en-US" dirty="0"/>
              <a:t> ResNet-18 is “looking” in the image.</a:t>
            </a:r>
          </a:p>
          <a:p>
            <a:r>
              <a:rPr lang="en-US" dirty="0"/>
              <a:t>For correct predictions, heatmaps focus on the </a:t>
            </a:r>
            <a:r>
              <a:rPr lang="en-US" b="1" dirty="0"/>
              <a:t>sign area</a:t>
            </a:r>
            <a:r>
              <a:rPr lang="en-US" dirty="0"/>
              <a:t> (digits, icon, border).</a:t>
            </a:r>
          </a:p>
          <a:p>
            <a:r>
              <a:rPr lang="en-US" dirty="0"/>
              <a:t>For some mistakes, attention drifts to the </a:t>
            </a:r>
            <a:r>
              <a:rPr lang="en-US" b="1" dirty="0"/>
              <a:t>border only</a:t>
            </a:r>
            <a:r>
              <a:rPr lang="en-US" dirty="0"/>
              <a:t> or even the </a:t>
            </a:r>
            <a:r>
              <a:rPr lang="en-US" b="1" dirty="0"/>
              <a:t>background</a:t>
            </a:r>
            <a:r>
              <a:rPr lang="en-US" dirty="0"/>
              <a:t>, helping explain misclassifications.</a:t>
            </a:r>
            <a:br>
              <a:rPr lang="en-US" dirty="0"/>
            </a:br>
            <a:endParaRPr lang="en-US" dirty="0"/>
          </a:p>
          <a:p>
            <a:r>
              <a:rPr lang="en-US" b="1" dirty="0"/>
              <a:t>What do misclassified examples tell us?</a:t>
            </a:r>
            <a:endParaRPr lang="en-US" dirty="0"/>
          </a:p>
          <a:p>
            <a:r>
              <a:rPr lang="en-US" dirty="0"/>
              <a:t>Confusions between </a:t>
            </a:r>
            <a:r>
              <a:rPr lang="en-US" b="1" dirty="0"/>
              <a:t>very similar signs</a:t>
            </a:r>
            <a:r>
              <a:rPr lang="en-US" dirty="0"/>
              <a:t> (e.g., nearby speed limits, similar triangular warnings).</a:t>
            </a:r>
          </a:p>
          <a:p>
            <a:r>
              <a:rPr lang="en-US" dirty="0"/>
              <a:t>Errors often occur on images with </a:t>
            </a:r>
            <a:r>
              <a:rPr lang="en-US" b="1" dirty="0"/>
              <a:t>blur, occlusion, or bad lighting</a:t>
            </a:r>
            <a:r>
              <a:rPr lang="en-US" dirty="0"/>
              <a:t>.</a:t>
            </a:r>
          </a:p>
          <a:p>
            <a:r>
              <a:rPr lang="en-US" dirty="0"/>
              <a:t>Shows that most remaining errors are on </a:t>
            </a:r>
            <a:r>
              <a:rPr lang="en-US" b="1" dirty="0"/>
              <a:t>very hard or ambiguous cases</a:t>
            </a:r>
            <a:r>
              <a:rPr lang="en-US" dirty="0"/>
              <a:t>, even though overall accuracy is high.</a:t>
            </a:r>
          </a:p>
          <a:p>
            <a:endParaRPr lang="en-US" dirty="0"/>
          </a:p>
          <a:p>
            <a:endParaRPr lang="en-IN" dirty="0"/>
          </a:p>
        </p:txBody>
      </p:sp>
      <p:pic>
        <p:nvPicPr>
          <p:cNvPr id="6" name="Picture 5">
            <a:extLst>
              <a:ext uri="{FF2B5EF4-FFF2-40B4-BE49-F238E27FC236}">
                <a16:creationId xmlns:a16="http://schemas.microsoft.com/office/drawing/2014/main" id="{BCA6206E-FD78-125C-74E6-C182FE46E823}"/>
              </a:ext>
            </a:extLst>
          </p:cNvPr>
          <p:cNvPicPr>
            <a:picLocks noChangeAspect="1"/>
          </p:cNvPicPr>
          <p:nvPr/>
        </p:nvPicPr>
        <p:blipFill>
          <a:blip r:embed="rId3"/>
          <a:stretch>
            <a:fillRect/>
          </a:stretch>
        </p:blipFill>
        <p:spPr>
          <a:xfrm>
            <a:off x="8555895" y="2375432"/>
            <a:ext cx="2917008" cy="2836272"/>
          </a:xfrm>
          <a:prstGeom prst="rect">
            <a:avLst/>
          </a:prstGeom>
        </p:spPr>
      </p:pic>
      <p:pic>
        <p:nvPicPr>
          <p:cNvPr id="8" name="Picture 7">
            <a:extLst>
              <a:ext uri="{FF2B5EF4-FFF2-40B4-BE49-F238E27FC236}">
                <a16:creationId xmlns:a16="http://schemas.microsoft.com/office/drawing/2014/main" id="{4F2CC348-6D3A-7213-E705-A844D3CB6A0C}"/>
              </a:ext>
            </a:extLst>
          </p:cNvPr>
          <p:cNvPicPr>
            <a:picLocks noChangeAspect="1"/>
          </p:cNvPicPr>
          <p:nvPr/>
        </p:nvPicPr>
        <p:blipFill>
          <a:blip r:embed="rId4"/>
          <a:stretch>
            <a:fillRect/>
          </a:stretch>
        </p:blipFill>
        <p:spPr>
          <a:xfrm>
            <a:off x="8555895" y="5291506"/>
            <a:ext cx="3184586" cy="1450176"/>
          </a:xfrm>
          <a:prstGeom prst="rect">
            <a:avLst/>
          </a:prstGeom>
        </p:spPr>
      </p:pic>
    </p:spTree>
    <p:extLst>
      <p:ext uri="{BB962C8B-B14F-4D97-AF65-F5344CB8AC3E}">
        <p14:creationId xmlns:p14="http://schemas.microsoft.com/office/powerpoint/2010/main" val="1009444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7"/>
          <p:cNvSpPr txBox="1">
            <a:spLocks noGrp="1"/>
          </p:cNvSpPr>
          <p:nvPr>
            <p:ph type="title"/>
          </p:nvPr>
        </p:nvSpPr>
        <p:spPr>
          <a:xfrm>
            <a:off x="972600" y="1758200"/>
            <a:ext cx="102516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111"/>
              <a:buNone/>
            </a:pPr>
            <a:r>
              <a:rPr lang="en-US" dirty="0"/>
              <a:t>Suggestions/Recommendations</a:t>
            </a:r>
            <a:endParaRPr dirty="0"/>
          </a:p>
        </p:txBody>
      </p:sp>
      <p:sp>
        <p:nvSpPr>
          <p:cNvPr id="183" name="Google Shape;183;p27"/>
          <p:cNvSpPr txBox="1">
            <a:spLocks noGrp="1"/>
          </p:cNvSpPr>
          <p:nvPr>
            <p:ph type="body" idx="1"/>
          </p:nvPr>
        </p:nvSpPr>
        <p:spPr>
          <a:xfrm>
            <a:off x="972600" y="2771833"/>
            <a:ext cx="10251600" cy="3014700"/>
          </a:xfrm>
          <a:prstGeom prst="rect">
            <a:avLst/>
          </a:prstGeom>
          <a:noFill/>
          <a:ln>
            <a:noFill/>
          </a:ln>
        </p:spPr>
        <p:txBody>
          <a:bodyPr spcFirstLastPara="1" wrap="square" lIns="121900" tIns="121900" rIns="121900" bIns="121900" anchor="t" anchorCtr="0">
            <a:normAutofit/>
          </a:bodyPr>
          <a:lstStyle/>
          <a:p>
            <a:pPr marL="120650" indent="0">
              <a:buNone/>
            </a:pPr>
            <a:r>
              <a:rPr lang="en-IN" sz="2000" b="1" dirty="0"/>
              <a:t>Any recommendations about future work?</a:t>
            </a:r>
            <a:endParaRPr lang="en-IN" sz="2000" dirty="0"/>
          </a:p>
          <a:p>
            <a:r>
              <a:rPr lang="en-IN" sz="2000" dirty="0"/>
              <a:t>Try other architectures (e.g., </a:t>
            </a:r>
            <a:r>
              <a:rPr lang="en-IN" sz="2000" b="1" dirty="0"/>
              <a:t>ResNet-34, MobileNet</a:t>
            </a:r>
            <a:r>
              <a:rPr lang="en-IN" sz="2000" dirty="0"/>
              <a:t>) and compare to ResNet-18</a:t>
            </a:r>
          </a:p>
          <a:p>
            <a:r>
              <a:rPr lang="en-IN" sz="2000" dirty="0"/>
              <a:t>Use </a:t>
            </a:r>
            <a:r>
              <a:rPr lang="en-IN" sz="2000" b="1" dirty="0"/>
              <a:t>stronger data augmentation</a:t>
            </a:r>
            <a:r>
              <a:rPr lang="en-IN" sz="2000" dirty="0"/>
              <a:t> and more systematic hyperparameter tuning</a:t>
            </a:r>
          </a:p>
          <a:p>
            <a:r>
              <a:rPr lang="en-IN" sz="2000" dirty="0"/>
              <a:t>Explore </a:t>
            </a:r>
            <a:r>
              <a:rPr lang="en-IN" sz="2000" b="1" dirty="0"/>
              <a:t>ensembles</a:t>
            </a:r>
            <a:r>
              <a:rPr lang="en-IN" sz="2000" dirty="0"/>
              <a:t> of Regularized CNN + ResNet-18</a:t>
            </a:r>
          </a:p>
          <a:p>
            <a:r>
              <a:rPr lang="en-IN" sz="2000" dirty="0"/>
              <a:t>Add more </a:t>
            </a:r>
            <a:r>
              <a:rPr lang="en-IN" sz="2000" b="1" dirty="0"/>
              <a:t>explainability methods</a:t>
            </a:r>
            <a:r>
              <a:rPr lang="en-IN" sz="2000" dirty="0"/>
              <a:t> beyond Grad-CAM</a:t>
            </a:r>
          </a:p>
          <a:p>
            <a:r>
              <a:rPr lang="en-IN" sz="2000" dirty="0"/>
              <a:t>Build a simple </a:t>
            </a:r>
            <a:r>
              <a:rPr lang="en-IN" sz="2000" b="1" dirty="0"/>
              <a:t>real-time traffic sign recognition demo</a:t>
            </a:r>
            <a:r>
              <a:rPr lang="en-IN" sz="2000" dirty="0"/>
              <a:t> (webcam / video)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8"/>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111"/>
              <a:buNone/>
            </a:pPr>
            <a:r>
              <a:rPr lang="en-US" dirty="0"/>
              <a:t>Project learning/task assignments</a:t>
            </a:r>
            <a:endParaRPr dirty="0"/>
          </a:p>
        </p:txBody>
      </p:sp>
      <p:sp>
        <p:nvSpPr>
          <p:cNvPr id="189" name="Google Shape;189;p28"/>
          <p:cNvSpPr txBox="1">
            <a:spLocks noGrp="1"/>
          </p:cNvSpPr>
          <p:nvPr>
            <p:ph type="body" idx="1"/>
          </p:nvPr>
        </p:nvSpPr>
        <p:spPr>
          <a:xfrm>
            <a:off x="1152907" y="2651517"/>
            <a:ext cx="8195629" cy="3014700"/>
          </a:xfrm>
          <a:prstGeom prst="rect">
            <a:avLst/>
          </a:prstGeom>
          <a:noFill/>
          <a:ln>
            <a:noFill/>
          </a:ln>
        </p:spPr>
        <p:txBody>
          <a:bodyPr spcFirstLastPara="1" wrap="square" lIns="121900" tIns="121900" rIns="121900" bIns="121900" anchor="t" anchorCtr="0">
            <a:normAutofit/>
          </a:bodyPr>
          <a:lstStyle/>
          <a:p>
            <a:pPr marL="120650" indent="0">
              <a:buNone/>
            </a:pPr>
            <a:r>
              <a:rPr lang="en-US" sz="2000" b="1" dirty="0"/>
              <a:t>Original project (team)</a:t>
            </a:r>
            <a:endParaRPr lang="en-US" sz="2000" dirty="0"/>
          </a:p>
          <a:p>
            <a:pPr marL="863600" lvl="1" indent="-285750"/>
            <a:r>
              <a:rPr lang="en-US" sz="1800" dirty="0"/>
              <a:t>Implemented </a:t>
            </a:r>
            <a:r>
              <a:rPr lang="en-US" sz="1800" b="1" dirty="0"/>
              <a:t>baseline (PCA + Ridge)</a:t>
            </a:r>
            <a:r>
              <a:rPr lang="en-US" sz="1800" dirty="0"/>
              <a:t> and </a:t>
            </a:r>
            <a:r>
              <a:rPr lang="en-US" sz="1800" b="1" dirty="0"/>
              <a:t>Plain / Regularized CNNs</a:t>
            </a:r>
            <a:endParaRPr lang="en-US" sz="1800" dirty="0"/>
          </a:p>
          <a:p>
            <a:pPr marL="863600" lvl="1" indent="-285750"/>
            <a:r>
              <a:rPr lang="en-US" sz="1800" dirty="0"/>
              <a:t>Generated initial </a:t>
            </a:r>
            <a:r>
              <a:rPr lang="en-US" sz="1800" b="1" dirty="0"/>
              <a:t>metrics, confusion matrices, and learning curves</a:t>
            </a:r>
            <a:endParaRPr lang="en-US" sz="1800" dirty="0"/>
          </a:p>
          <a:p>
            <a:pPr marL="120650" indent="0">
              <a:buNone/>
            </a:pPr>
            <a:r>
              <a:rPr lang="en-US" sz="2000" b="1" dirty="0"/>
              <a:t>Extension (my work)</a:t>
            </a:r>
            <a:endParaRPr lang="en-US" sz="2000" dirty="0"/>
          </a:p>
          <a:p>
            <a:pPr marL="863600" lvl="1" indent="-285750"/>
            <a:r>
              <a:rPr lang="en-US" sz="1800" dirty="0"/>
              <a:t>Fine-tuned </a:t>
            </a:r>
            <a:r>
              <a:rPr lang="en-US" sz="1800" b="1" dirty="0"/>
              <a:t>ResNet-18</a:t>
            </a:r>
            <a:r>
              <a:rPr lang="en-US" sz="1800" dirty="0"/>
              <a:t> on GTSRB with data augmentation</a:t>
            </a:r>
          </a:p>
          <a:p>
            <a:pPr marL="863600" lvl="1" indent="-285750"/>
            <a:r>
              <a:rPr lang="en-US" sz="1800" dirty="0"/>
              <a:t>Added </a:t>
            </a:r>
            <a:r>
              <a:rPr lang="en-US" sz="1800" b="1" dirty="0"/>
              <a:t>misclassification viewer</a:t>
            </a:r>
            <a:r>
              <a:rPr lang="en-US" sz="1800" dirty="0"/>
              <a:t> and </a:t>
            </a:r>
            <a:r>
              <a:rPr lang="en-US" sz="1800" b="1" dirty="0"/>
              <a:t>Grad-CAM</a:t>
            </a:r>
            <a:r>
              <a:rPr lang="en-US" sz="1800" dirty="0"/>
              <a:t> explanations</a:t>
            </a:r>
          </a:p>
          <a:p>
            <a:pPr marL="863600" lvl="1" indent="-285750"/>
            <a:r>
              <a:rPr lang="en-US" sz="1800" dirty="0"/>
              <a:t>Compared all models and wrote the </a:t>
            </a:r>
            <a:r>
              <a:rPr lang="en-US" sz="1800" b="1" dirty="0"/>
              <a:t>extension report + updated PPT</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0"/>
          <p:cNvSpPr txBox="1">
            <a:spLocks noGrp="1"/>
          </p:cNvSpPr>
          <p:nvPr>
            <p:ph type="title"/>
          </p:nvPr>
        </p:nvSpPr>
        <p:spPr>
          <a:xfrm>
            <a:off x="972600" y="1758200"/>
            <a:ext cx="10251600" cy="713700"/>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100000"/>
              </a:lnSpc>
              <a:spcBef>
                <a:spcPts val="0"/>
              </a:spcBef>
              <a:spcAft>
                <a:spcPts val="0"/>
              </a:spcAft>
              <a:buSzPct val="111111"/>
              <a:buNone/>
            </a:pPr>
            <a:r>
              <a:rPr lang="en-US"/>
              <a:t>QA</a:t>
            </a:r>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1133</TotalTime>
  <Words>3660</Words>
  <Application>Microsoft Office PowerPoint</Application>
  <PresentationFormat>Widescreen</PresentationFormat>
  <Paragraphs>220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Lato</vt:lpstr>
      <vt:lpstr>Raleway</vt:lpstr>
      <vt:lpstr>Streamline</vt:lpstr>
      <vt:lpstr>Traffic Sign Recognition on GTSRB: From Custom CNNs to ResNet-18 Transfer Learning</vt:lpstr>
      <vt:lpstr>Overview of the problem/project </vt:lpstr>
      <vt:lpstr>Model input-output [1/2 slides] </vt:lpstr>
      <vt:lpstr>Model input-output [2/2 slides] </vt:lpstr>
      <vt:lpstr>Training data and experiment setup </vt:lpstr>
      <vt:lpstr>Baseline model performance (1)</vt:lpstr>
      <vt:lpstr>Baseline model performance (1)</vt:lpstr>
      <vt:lpstr>ResNet-18 performance (2)</vt:lpstr>
      <vt:lpstr>Deep Learning model performance (2)</vt:lpstr>
      <vt:lpstr>Deep Learning model performance (2)</vt:lpstr>
      <vt:lpstr>Deep Learning model performance (2)</vt:lpstr>
      <vt:lpstr>Deep Learning model performance (3)</vt:lpstr>
      <vt:lpstr>Deep Learning model performance (2)</vt:lpstr>
      <vt:lpstr>Error Analysis &amp; Explainability (ResNet-18)</vt:lpstr>
      <vt:lpstr>Suggestions/Recommendations</vt:lpstr>
      <vt:lpstr>Project learning/task assignments</vt:lpstr>
      <vt:lpstr>QA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Pavan Kumar Satram</cp:lastModifiedBy>
  <cp:revision>5</cp:revision>
  <dcterms:modified xsi:type="dcterms:W3CDTF">2025-12-05T21:55:44Z</dcterms:modified>
</cp:coreProperties>
</file>